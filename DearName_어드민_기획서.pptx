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7927B-D7A2-CEAD-0582-59F5C7D9F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3E4273-F587-2F45-0ED9-A5E1E34BA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B5E3B-F077-E2E1-BAB4-136111B4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5760FC-C223-C2C1-1412-442A25C2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C6819E-90D0-536F-CA90-EF60A111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8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1B481-95DC-ADB0-756F-A136E808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E1951E-E0BA-285F-C1FA-6A4B383F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6816B-6E38-DBA4-2CF5-F8D554F8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296F4B-A892-6F68-478F-F2A57E64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3F544-8B79-DF64-108B-F55EB04B8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37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BC617-4878-25E0-44BA-0B110AE3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90C755-C139-007A-6C03-5D3D0B1AB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73250-94D7-844C-0D53-52B4017F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696BE6-4F3D-AA9A-8B5B-15C43303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0165B-F936-FC40-E2DD-67665E25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57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BFEB5-81BE-B88B-BECF-865AAA61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0673C8-3EAE-55AB-F1B4-C5BD1856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98999F-8330-3E2F-8FCD-400B9E419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A5B03-C088-FD59-5115-071B95A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4BA7A9-B452-C412-9C69-2B8EAE3A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7FC4E5-5FE6-074D-019F-FE0DA7F2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4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AE27D-5B6A-5701-32CE-A29274C5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D9A525-8651-9652-4BB5-73BCCB49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8E7122-C114-0BBB-9B25-0E77439DD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09DD1F-3AA0-CD94-E60A-518F8E64D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F556F6-C955-82B0-87CC-4EF31BA7A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591ABA-9BD9-0928-3E72-2728A14F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180684-A898-3D5E-D912-7207F85B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512654-3DE5-7014-9242-58350315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67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8B6C5-DCA8-A011-C517-B9548E54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9480EB-7619-D6CB-82C6-D8033944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22E220-F149-13AF-427B-3750E249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7AEE61-8D0C-1BF7-7E1B-2814A6BB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59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403322-0CEA-CF5F-6E4A-3C28F5D3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B873DB-BB63-AA39-4BB6-563983B6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2A2AD-BFAA-3CF7-B8A3-B92F3185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07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2D6F3-0694-FD43-B31E-4000B7F4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2F1B6-48AC-2CD2-F60A-05F8BF9C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27FFD9-68D6-52BB-8928-3308497D1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0DCCC-7183-1051-E40C-F514B155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B59CD5-5E72-BDB6-D4F6-6577B43A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C4A8A-651D-B69C-DF83-64D3EA8C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8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A8A70-AB97-62CD-31E0-E6C19876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555FAA-57EF-F894-D323-F4D63B15D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1CD9DA-8D65-49B7-9966-23F9F4087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D9FB7F-7CD2-DA2F-7CFB-407C4A06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21C427-EE25-51EF-B3E5-A41DCD0E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284C2C-6179-9AC5-8D21-D4359A93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06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A9A05-8A8B-26F4-635C-1B21DFDE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91858E-BC64-2D85-B767-0ABB63972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764D6-338F-1D78-CF6E-0793508E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EFFE7-0D7B-A35E-877A-6E1E0959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D79B29-5F6F-B5E2-5ACF-60E0328F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01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12F818-BF5D-31D9-ADC5-3E3472A6C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DC081D-8CA9-1326-0021-F1B1AA9FD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AF899-4F4A-1886-F30B-1C778C3C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1933D1-08E3-29B4-F5B3-102F0CC5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083A05-F0A6-6F6C-9C72-579F54DD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40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7C85B5-2558-F9B5-C6EF-70100736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AF731F-0466-9FF9-7DD1-4210B788A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111F0-99A9-1728-00E1-00B0A2455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19E5B-FFA3-4F65-98DF-E0C11FC131C9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14C9D-1CA6-CB12-CBA0-E9BAFCA2D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CC2E10-2D93-BB5B-9214-384BB1870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A3B0F-36C9-41E0-A133-609B146DA6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81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29ED6B-42BA-2DB6-0CEE-7FC00A1A5093}"/>
              </a:ext>
            </a:extLst>
          </p:cNvPr>
          <p:cNvSpPr/>
          <p:nvPr/>
        </p:nvSpPr>
        <p:spPr>
          <a:xfrm>
            <a:off x="8128000" y="-1524000"/>
            <a:ext cx="4572000" cy="4572000"/>
          </a:xfrm>
          <a:prstGeom prst="rect">
            <a:avLst/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F2F3A3-09AA-5729-28C1-345CCEC5C2A5}"/>
              </a:ext>
            </a:extLst>
          </p:cNvPr>
          <p:cNvSpPr/>
          <p:nvPr/>
        </p:nvSpPr>
        <p:spPr>
          <a:xfrm>
            <a:off x="9652000" y="3810000"/>
            <a:ext cx="4064000" cy="4064000"/>
          </a:xfrm>
          <a:prstGeom prst="rect">
            <a:avLst/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9C9121-E5D7-0282-E75D-3517F047ED59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F5BEA-AD80-0D79-66C6-FA99727D951D}"/>
              </a:ext>
            </a:extLst>
          </p:cNvPr>
          <p:cNvSpPr txBox="1"/>
          <p:nvPr/>
        </p:nvSpPr>
        <p:spPr>
          <a:xfrm>
            <a:off x="889000" y="1524000"/>
            <a:ext cx="9652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300" b="1">
                <a:solidFill>
                  <a:srgbClr val="CADCFC"/>
                </a:solidFill>
                <a:latin typeface="맑은 고딕" panose="020B0503020000020004" pitchFamily="50" charset="-127"/>
              </a:rPr>
              <a:t>PRODUCT REQUIREMENTS  ·  </a:t>
            </a:r>
            <a:r>
              <a:rPr lang="ko-KR" altLang="en-US" sz="1300" b="1">
                <a:solidFill>
                  <a:srgbClr val="CADCFC"/>
                </a:solidFill>
                <a:latin typeface="맑은 고딕" panose="020B0503020000020004" pitchFamily="50" charset="-127"/>
              </a:rPr>
              <a:t>기능 </a:t>
            </a:r>
            <a:r>
              <a:rPr lang="en-US" altLang="ko-KR" sz="1300" b="1">
                <a:solidFill>
                  <a:srgbClr val="CADCFC"/>
                </a:solidFill>
                <a:latin typeface="맑은 고딕" panose="020B0503020000020004" pitchFamily="50" charset="-127"/>
              </a:rPr>
              <a:t>&amp; UI/UX</a:t>
            </a:r>
            <a:endParaRPr lang="ko-KR" altLang="en-US" sz="13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9CA10-7AB0-19AC-5018-70AFC90EE114}"/>
              </a:ext>
            </a:extLst>
          </p:cNvPr>
          <p:cNvSpPr txBox="1"/>
          <p:nvPr/>
        </p:nvSpPr>
        <p:spPr>
          <a:xfrm>
            <a:off x="863600" y="1905000"/>
            <a:ext cx="10414000" cy="64120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운영 어드민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FF9BB-C349-F355-8094-F7F02280E9DA}"/>
              </a:ext>
            </a:extLst>
          </p:cNvPr>
          <p:cNvSpPr txBox="1"/>
          <p:nvPr/>
        </p:nvSpPr>
        <p:spPr>
          <a:xfrm>
            <a:off x="863600" y="2692400"/>
            <a:ext cx="10414000" cy="64120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기획서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220ABE-D2A0-AB32-1DE3-E6BC4FFC394E}"/>
              </a:ext>
            </a:extLst>
          </p:cNvPr>
          <p:cNvSpPr/>
          <p:nvPr/>
        </p:nvSpPr>
        <p:spPr>
          <a:xfrm>
            <a:off x="914400" y="3683000"/>
            <a:ext cx="1524000" cy="508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2F921-1C1F-6B0E-43ED-D51BEE758610}"/>
              </a:ext>
            </a:extLst>
          </p:cNvPr>
          <p:cNvSpPr txBox="1"/>
          <p:nvPr/>
        </p:nvSpPr>
        <p:spPr>
          <a:xfrm>
            <a:off x="889000" y="3962400"/>
            <a:ext cx="10414000" cy="23339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결제   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매출 통계   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보고서 재발급   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회원 관리   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350">
                <a:solidFill>
                  <a:srgbClr val="CADCFC"/>
                </a:solidFill>
                <a:latin typeface="맑은 고딕" panose="020B0503020000020004" pitchFamily="50" charset="-127"/>
              </a:rPr>
              <a:t>통합 상세</a:t>
            </a:r>
            <a:r>
              <a:rPr lang="en-US" altLang="ko-KR" sz="1350">
                <a:solidFill>
                  <a:srgbClr val="CADCFC"/>
                </a:solidFill>
                <a:latin typeface="맑은 고딕" panose="020B0503020000020004" pitchFamily="50" charset="-127"/>
              </a:rPr>
              <a:t>(360°)</a:t>
            </a:r>
            <a:endParaRPr lang="ko-KR" altLang="en-US" sz="1350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756C9-12D0-CE3A-CA35-03DBC4D66107}"/>
              </a:ext>
            </a:extLst>
          </p:cNvPr>
          <p:cNvSpPr txBox="1"/>
          <p:nvPr/>
        </p:nvSpPr>
        <p:spPr>
          <a:xfrm>
            <a:off x="889000" y="5461000"/>
            <a:ext cx="10160000" cy="53347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프로젝트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: DearName (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한자 작명 서비스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)
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문서 버전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: v1.1 — 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회원 관리 탭 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통합 상세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(360°) 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보강    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·    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작성일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: 2026-06-06
</a:t>
            </a:r>
            <a:r>
              <a:rPr lang="ko-KR" altLang="en-US" sz="1100">
                <a:solidFill>
                  <a:srgbClr val="9AAED6"/>
                </a:solidFill>
                <a:latin typeface="맑은 고딕" panose="020B0503020000020004" pitchFamily="50" charset="-127"/>
              </a:rPr>
              <a:t>운영사</a:t>
            </a:r>
            <a:r>
              <a:rPr lang="en-US" altLang="ko-KR" sz="1100">
                <a:solidFill>
                  <a:srgbClr val="9AAED6"/>
                </a:solidFill>
                <a:latin typeface="맑은 고딕" panose="020B0503020000020004" pitchFamily="50" charset="-127"/>
              </a:rPr>
              <a:t>: Crazystudio Co.</a:t>
            </a:r>
            <a:endParaRPr lang="ko-KR" altLang="en-US" sz="1100">
              <a:solidFill>
                <a:srgbClr val="9AAED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64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6A9424-CCA6-84DD-809D-0628BB03E84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2FF97-6982-F5CC-B26F-C49352896534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AGENDA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65D94-0904-AD79-AC21-D085CD80AA4C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F5BD1-6073-01E3-3520-226C89AFFB8F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4B5D3-E43F-70AF-69E6-4521943C06D5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02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AC8D97-939E-C172-9396-284154EDE0D8}"/>
              </a:ext>
            </a:extLst>
          </p:cNvPr>
          <p:cNvSpPr/>
          <p:nvPr/>
        </p:nvSpPr>
        <p:spPr>
          <a:xfrm>
            <a:off x="609600" y="15240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1E65D5-8FEB-6EAD-11F8-02957D742062}"/>
              </a:ext>
            </a:extLst>
          </p:cNvPr>
          <p:cNvSpPr/>
          <p:nvPr/>
        </p:nvSpPr>
        <p:spPr>
          <a:xfrm>
            <a:off x="609600" y="15240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58DAC8-5AED-565B-32CA-CDE79F3A37AC}"/>
              </a:ext>
            </a:extLst>
          </p:cNvPr>
          <p:cNvSpPr/>
          <p:nvPr/>
        </p:nvSpPr>
        <p:spPr>
          <a:xfrm>
            <a:off x="863600" y="18288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4FBE38-5440-D62D-A405-6EF496580E72}"/>
              </a:ext>
            </a:extLst>
          </p:cNvPr>
          <p:cNvSpPr txBox="1"/>
          <p:nvPr/>
        </p:nvSpPr>
        <p:spPr>
          <a:xfrm>
            <a:off x="863600" y="18518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01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8A0AA-6A14-F02F-92B6-88DB9E504C39}"/>
              </a:ext>
            </a:extLst>
          </p:cNvPr>
          <p:cNvSpPr txBox="1"/>
          <p:nvPr/>
        </p:nvSpPr>
        <p:spPr>
          <a:xfrm>
            <a:off x="1574800" y="17780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배경 </a:t>
            </a:r>
            <a:r>
              <a:rPr lang="en-US" altLang="ko-KR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문제 정의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48C02-FBAA-41E7-AA2F-4837726C2DFC}"/>
              </a:ext>
            </a:extLst>
          </p:cNvPr>
          <p:cNvSpPr txBox="1"/>
          <p:nvPr/>
        </p:nvSpPr>
        <p:spPr>
          <a:xfrm>
            <a:off x="1574800" y="21082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왜 어드민이 필요한가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FE4E528-1199-FED4-6004-2DCACB50B2E9}"/>
              </a:ext>
            </a:extLst>
          </p:cNvPr>
          <p:cNvSpPr/>
          <p:nvPr/>
        </p:nvSpPr>
        <p:spPr>
          <a:xfrm>
            <a:off x="6273800" y="15240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076415-AFCF-A30A-8CFA-FB2AB3B9069A}"/>
              </a:ext>
            </a:extLst>
          </p:cNvPr>
          <p:cNvSpPr/>
          <p:nvPr/>
        </p:nvSpPr>
        <p:spPr>
          <a:xfrm>
            <a:off x="6273800" y="15240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95C5CD-2BC4-629D-1152-9FDE0EDC1CF4}"/>
              </a:ext>
            </a:extLst>
          </p:cNvPr>
          <p:cNvSpPr/>
          <p:nvPr/>
        </p:nvSpPr>
        <p:spPr>
          <a:xfrm>
            <a:off x="6527800" y="18288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D50D5-8362-0C0B-60C9-536FEBB6446C}"/>
              </a:ext>
            </a:extLst>
          </p:cNvPr>
          <p:cNvSpPr txBox="1"/>
          <p:nvPr/>
        </p:nvSpPr>
        <p:spPr>
          <a:xfrm>
            <a:off x="6527800" y="18518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02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81225F-AA2D-1139-20B1-32F168BD526A}"/>
              </a:ext>
            </a:extLst>
          </p:cNvPr>
          <p:cNvSpPr txBox="1"/>
          <p:nvPr/>
        </p:nvSpPr>
        <p:spPr>
          <a:xfrm>
            <a:off x="7239000" y="17780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목표 </a:t>
            </a:r>
            <a:r>
              <a:rPr lang="en-US" altLang="ko-KR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범위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DC2D5F-D096-B803-3105-5451DDC222AA}"/>
              </a:ext>
            </a:extLst>
          </p:cNvPr>
          <p:cNvSpPr txBox="1"/>
          <p:nvPr/>
        </p:nvSpPr>
        <p:spPr>
          <a:xfrm>
            <a:off x="7239000" y="21082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차 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In/Out of Scope</a:t>
            </a:r>
            <a:endParaRPr lang="ko-KR" altLang="en-US" sz="105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E6A5B5-D218-F830-18E8-0EA6B8C056CF}"/>
              </a:ext>
            </a:extLst>
          </p:cNvPr>
          <p:cNvSpPr/>
          <p:nvPr/>
        </p:nvSpPr>
        <p:spPr>
          <a:xfrm>
            <a:off x="609600" y="27432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293201-61DC-B654-A306-DDCFE6B5B560}"/>
              </a:ext>
            </a:extLst>
          </p:cNvPr>
          <p:cNvSpPr/>
          <p:nvPr/>
        </p:nvSpPr>
        <p:spPr>
          <a:xfrm>
            <a:off x="609600" y="27432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F30FCCE-432E-2944-D244-71B83114A010}"/>
              </a:ext>
            </a:extLst>
          </p:cNvPr>
          <p:cNvSpPr/>
          <p:nvPr/>
        </p:nvSpPr>
        <p:spPr>
          <a:xfrm>
            <a:off x="863600" y="30480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41177-3CF0-A306-2BAF-798A91A95F93}"/>
              </a:ext>
            </a:extLst>
          </p:cNvPr>
          <p:cNvSpPr txBox="1"/>
          <p:nvPr/>
        </p:nvSpPr>
        <p:spPr>
          <a:xfrm>
            <a:off x="863600" y="30710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03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B49451-7179-5717-074A-C853C3D4E63D}"/>
              </a:ext>
            </a:extLst>
          </p:cNvPr>
          <p:cNvSpPr txBox="1"/>
          <p:nvPr/>
        </p:nvSpPr>
        <p:spPr>
          <a:xfrm>
            <a:off x="1574800" y="29972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정보 구조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2E056B-7687-EEBE-AD41-5CF9A8A57820}"/>
              </a:ext>
            </a:extLst>
          </p:cNvPr>
          <p:cNvSpPr txBox="1"/>
          <p:nvPr/>
        </p:nvSpPr>
        <p:spPr>
          <a:xfrm>
            <a:off x="1574800" y="33274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메뉴 트리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E7E542-3CAA-094D-3BFF-C4ED33F16407}"/>
              </a:ext>
            </a:extLst>
          </p:cNvPr>
          <p:cNvSpPr/>
          <p:nvPr/>
        </p:nvSpPr>
        <p:spPr>
          <a:xfrm>
            <a:off x="6273800" y="27432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FC7C95-11C5-0883-0244-F2BC8DAE7065}"/>
              </a:ext>
            </a:extLst>
          </p:cNvPr>
          <p:cNvSpPr/>
          <p:nvPr/>
        </p:nvSpPr>
        <p:spPr>
          <a:xfrm>
            <a:off x="6273800" y="27432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8D5DEF1-54E7-92F3-3EDB-5EFC573D7BE0}"/>
              </a:ext>
            </a:extLst>
          </p:cNvPr>
          <p:cNvSpPr/>
          <p:nvPr/>
        </p:nvSpPr>
        <p:spPr>
          <a:xfrm>
            <a:off x="6527800" y="30480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5A2C9-1AC9-5289-65A1-8A78D46AEE09}"/>
              </a:ext>
            </a:extLst>
          </p:cNvPr>
          <p:cNvSpPr txBox="1"/>
          <p:nvPr/>
        </p:nvSpPr>
        <p:spPr>
          <a:xfrm>
            <a:off x="6527800" y="30710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04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27398B-38B0-37F8-A963-F3143CA0A93D}"/>
              </a:ext>
            </a:extLst>
          </p:cNvPr>
          <p:cNvSpPr txBox="1"/>
          <p:nvPr/>
        </p:nvSpPr>
        <p:spPr>
          <a:xfrm>
            <a:off x="7239000" y="29972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기능 요구사항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649EA-D502-802A-A7D8-C0074E0637EB}"/>
              </a:ext>
            </a:extLst>
          </p:cNvPr>
          <p:cNvSpPr txBox="1"/>
          <p:nvPr/>
        </p:nvSpPr>
        <p:spPr>
          <a:xfrm>
            <a:off x="7239000" y="33274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F-01 ~ F-14</a:t>
            </a:r>
            <a:endParaRPr lang="ko-KR" altLang="en-US" sz="105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01C5DC9-4AA3-7995-3199-4B48857A0901}"/>
              </a:ext>
            </a:extLst>
          </p:cNvPr>
          <p:cNvSpPr/>
          <p:nvPr/>
        </p:nvSpPr>
        <p:spPr>
          <a:xfrm>
            <a:off x="609600" y="39624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642598-10AD-3BFB-E5D0-1C77F31AECA7}"/>
              </a:ext>
            </a:extLst>
          </p:cNvPr>
          <p:cNvSpPr/>
          <p:nvPr/>
        </p:nvSpPr>
        <p:spPr>
          <a:xfrm>
            <a:off x="609600" y="39624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CBF055F-8E91-7EDD-A984-0CA214C1510D}"/>
              </a:ext>
            </a:extLst>
          </p:cNvPr>
          <p:cNvSpPr/>
          <p:nvPr/>
        </p:nvSpPr>
        <p:spPr>
          <a:xfrm>
            <a:off x="863600" y="42672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D53E52-6231-2E5F-B574-04BDDC4DFA5E}"/>
              </a:ext>
            </a:extLst>
          </p:cNvPr>
          <p:cNvSpPr txBox="1"/>
          <p:nvPr/>
        </p:nvSpPr>
        <p:spPr>
          <a:xfrm>
            <a:off x="863600" y="42902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05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C80556-E2CF-634C-F629-B7AE20436E13}"/>
              </a:ext>
            </a:extLst>
          </p:cNvPr>
          <p:cNvSpPr txBox="1"/>
          <p:nvPr/>
        </p:nvSpPr>
        <p:spPr>
          <a:xfrm>
            <a:off x="1574800" y="42164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5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004888-DFBA-93AF-3BC0-F34E775B4771}"/>
              </a:ext>
            </a:extLst>
          </p:cNvPr>
          <p:cNvSpPr txBox="1"/>
          <p:nvPr/>
        </p:nvSpPr>
        <p:spPr>
          <a:xfrm>
            <a:off x="1574800" y="45466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통합상세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E36BC89-7BFD-D360-8242-3DAD61539887}"/>
              </a:ext>
            </a:extLst>
          </p:cNvPr>
          <p:cNvSpPr/>
          <p:nvPr/>
        </p:nvSpPr>
        <p:spPr>
          <a:xfrm>
            <a:off x="6273800" y="39624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7D33528-B422-2CF6-6A77-7178883F27EA}"/>
              </a:ext>
            </a:extLst>
          </p:cNvPr>
          <p:cNvSpPr/>
          <p:nvPr/>
        </p:nvSpPr>
        <p:spPr>
          <a:xfrm>
            <a:off x="6273800" y="39624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2AEA685-6806-393D-7158-B6CA9F6B1580}"/>
              </a:ext>
            </a:extLst>
          </p:cNvPr>
          <p:cNvSpPr/>
          <p:nvPr/>
        </p:nvSpPr>
        <p:spPr>
          <a:xfrm>
            <a:off x="6527800" y="42672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8ED9A9-472A-FEB5-8BBF-ED41BBB0426C}"/>
              </a:ext>
            </a:extLst>
          </p:cNvPr>
          <p:cNvSpPr txBox="1"/>
          <p:nvPr/>
        </p:nvSpPr>
        <p:spPr>
          <a:xfrm>
            <a:off x="6527800" y="42902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06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F66F35-8465-6690-277C-7DA7A5724AF3}"/>
              </a:ext>
            </a:extLst>
          </p:cNvPr>
          <p:cNvSpPr txBox="1"/>
          <p:nvPr/>
        </p:nvSpPr>
        <p:spPr>
          <a:xfrm>
            <a:off x="7239000" y="42164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데이터 </a:t>
            </a:r>
            <a:r>
              <a:rPr lang="en-US" altLang="ko-KR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보안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2D223-4457-E1D0-25B1-46D1F1A2E7AE}"/>
              </a:ext>
            </a:extLst>
          </p:cNvPr>
          <p:cNvSpPr txBox="1"/>
          <p:nvPr/>
        </p:nvSpPr>
        <p:spPr>
          <a:xfrm>
            <a:off x="7239000" y="45466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데이터 상세 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개인정보 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환불 기술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8600D4C-5517-EB60-0F8F-F0245716A14A}"/>
              </a:ext>
            </a:extLst>
          </p:cNvPr>
          <p:cNvSpPr/>
          <p:nvPr/>
        </p:nvSpPr>
        <p:spPr>
          <a:xfrm>
            <a:off x="609600" y="51816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19F47D1-F42D-7813-9C6A-E66B73CDEB0D}"/>
              </a:ext>
            </a:extLst>
          </p:cNvPr>
          <p:cNvSpPr/>
          <p:nvPr/>
        </p:nvSpPr>
        <p:spPr>
          <a:xfrm>
            <a:off x="609600" y="51816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D3FF328-4AE3-093B-3451-FC0EE935F25C}"/>
              </a:ext>
            </a:extLst>
          </p:cNvPr>
          <p:cNvSpPr/>
          <p:nvPr/>
        </p:nvSpPr>
        <p:spPr>
          <a:xfrm>
            <a:off x="863600" y="54864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6805AB-BF22-ABA4-CD7E-2964DD736478}"/>
              </a:ext>
            </a:extLst>
          </p:cNvPr>
          <p:cNvSpPr txBox="1"/>
          <p:nvPr/>
        </p:nvSpPr>
        <p:spPr>
          <a:xfrm>
            <a:off x="863600" y="55094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07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BF7135-5A63-2E75-830A-00250B69E4E9}"/>
              </a:ext>
            </a:extLst>
          </p:cNvPr>
          <p:cNvSpPr txBox="1"/>
          <p:nvPr/>
        </p:nvSpPr>
        <p:spPr>
          <a:xfrm>
            <a:off x="1574800" y="54356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출시 로드맵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6B577F-5C15-944C-748C-5F248D374B38}"/>
              </a:ext>
            </a:extLst>
          </p:cNvPr>
          <p:cNvSpPr txBox="1"/>
          <p:nvPr/>
        </p:nvSpPr>
        <p:spPr>
          <a:xfrm>
            <a:off x="1574800" y="57658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Phase 0~3 · 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개발 구현 순서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B58A09D-F9F4-51CD-2CCB-C066776E60DB}"/>
              </a:ext>
            </a:extLst>
          </p:cNvPr>
          <p:cNvSpPr/>
          <p:nvPr/>
        </p:nvSpPr>
        <p:spPr>
          <a:xfrm>
            <a:off x="6273800" y="5181600"/>
            <a:ext cx="5461000" cy="111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F92ECD4-9D35-20A7-53DC-82FA3CB992B8}"/>
              </a:ext>
            </a:extLst>
          </p:cNvPr>
          <p:cNvSpPr/>
          <p:nvPr/>
        </p:nvSpPr>
        <p:spPr>
          <a:xfrm>
            <a:off x="6273800" y="5181600"/>
            <a:ext cx="76200" cy="11176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C5DBD32-B01F-E375-48F6-A9924B72FA56}"/>
              </a:ext>
            </a:extLst>
          </p:cNvPr>
          <p:cNvSpPr/>
          <p:nvPr/>
        </p:nvSpPr>
        <p:spPr>
          <a:xfrm>
            <a:off x="6527800" y="5486400"/>
            <a:ext cx="508000" cy="50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EB5534-CF74-F6C3-DBDA-8530D6B876A2}"/>
              </a:ext>
            </a:extLst>
          </p:cNvPr>
          <p:cNvSpPr txBox="1"/>
          <p:nvPr/>
        </p:nvSpPr>
        <p:spPr>
          <a:xfrm>
            <a:off x="6527800" y="5509483"/>
            <a:ext cx="50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08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175809-9A3D-3434-12D6-804E40028777}"/>
              </a:ext>
            </a:extLst>
          </p:cNvPr>
          <p:cNvSpPr txBox="1"/>
          <p:nvPr/>
        </p:nvSpPr>
        <p:spPr>
          <a:xfrm>
            <a:off x="7239000" y="5435600"/>
            <a:ext cx="4318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다음 단계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55FB92-D5B4-3B50-CF9F-25219937E7E3}"/>
              </a:ext>
            </a:extLst>
          </p:cNvPr>
          <p:cNvSpPr txBox="1"/>
          <p:nvPr/>
        </p:nvSpPr>
        <p:spPr>
          <a:xfrm>
            <a:off x="7239000" y="5765800"/>
            <a:ext cx="4318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바로 할 일</a:t>
            </a:r>
          </a:p>
        </p:txBody>
      </p:sp>
    </p:spTree>
    <p:extLst>
      <p:ext uri="{BB962C8B-B14F-4D97-AF65-F5344CB8AC3E}">
        <p14:creationId xmlns:p14="http://schemas.microsoft.com/office/powerpoint/2010/main" val="41695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AA3463-0864-7D7E-5B95-14D6B4F12B9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75D01-100A-4E58-55A4-3325ACC1791C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01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배경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문제 정의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228B6-0087-8E04-993C-E261455FED6E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왜 어드민이 필요한가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E20CB-DF5B-7B6B-D2D0-C62B9A93D8FE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70A26-D3FA-472B-B329-0EEF93D2D307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03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BFDAF2-0A2E-EA3D-573E-0204DC40F22A}"/>
              </a:ext>
            </a:extLst>
          </p:cNvPr>
          <p:cNvSpPr/>
          <p:nvPr/>
        </p:nvSpPr>
        <p:spPr>
          <a:xfrm>
            <a:off x="609600" y="1498600"/>
            <a:ext cx="5207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22F7A-A261-176E-EBFF-C46ABC4C5B38}"/>
              </a:ext>
            </a:extLst>
          </p:cNvPr>
          <p:cNvSpPr txBox="1"/>
          <p:nvPr/>
        </p:nvSpPr>
        <p:spPr>
          <a:xfrm>
            <a:off x="863600" y="1676400"/>
            <a:ext cx="4699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현재 상태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CBB43-F35F-B494-0E17-6DC225B3D881}"/>
              </a:ext>
            </a:extLst>
          </p:cNvPr>
          <p:cNvSpPr txBox="1"/>
          <p:nvPr/>
        </p:nvSpPr>
        <p:spPr>
          <a:xfrm>
            <a:off x="863600" y="2057400"/>
            <a:ext cx="4749800" cy="55656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백엔드 서버는 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DB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가 없는 프록시 구조
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토스 결제검증은 코드 주석만 있는 스텁
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매출이 어디에도 기록 안 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4CE1872-A894-9352-29C7-AF1C8B5ED195}"/>
              </a:ext>
            </a:extLst>
          </p:cNvPr>
          <p:cNvSpPr/>
          <p:nvPr/>
        </p:nvSpPr>
        <p:spPr>
          <a:xfrm>
            <a:off x="609600" y="3632200"/>
            <a:ext cx="5207000" cy="1676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5E47B-EDBE-0EAD-3190-BB638BE65C11}"/>
              </a:ext>
            </a:extLst>
          </p:cNvPr>
          <p:cNvSpPr txBox="1"/>
          <p:nvPr/>
        </p:nvSpPr>
        <p:spPr>
          <a:xfrm>
            <a:off x="863600" y="3810000"/>
            <a:ext cx="47498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기록되는 운영 데이터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A73FC-9FBB-2144-3EA3-A394F18AB134}"/>
              </a:ext>
            </a:extLst>
          </p:cNvPr>
          <p:cNvSpPr txBox="1"/>
          <p:nvPr/>
        </p:nvSpPr>
        <p:spPr>
          <a:xfrm>
            <a:off x="863600" y="3827790"/>
            <a:ext cx="4749800" cy="82586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5200" b="1">
                <a:solidFill>
                  <a:srgbClr val="FFFFFF"/>
                </a:solidFill>
                <a:latin typeface="맑은 고딕" panose="020B0503020000020004" pitchFamily="50" charset="-127"/>
              </a:rPr>
              <a:t>0 </a:t>
            </a:r>
            <a:r>
              <a:rPr lang="ko-KR" altLang="en-US" sz="5200" b="1">
                <a:solidFill>
                  <a:srgbClr val="FFFFFF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B983A-ECCA-36AE-28D2-241BE7246667}"/>
              </a:ext>
            </a:extLst>
          </p:cNvPr>
          <p:cNvSpPr txBox="1"/>
          <p:nvPr/>
        </p:nvSpPr>
        <p:spPr>
          <a:xfrm>
            <a:off x="6197600" y="1498600"/>
            <a:ext cx="5384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3B6FB5"/>
                </a:solidFill>
                <a:latin typeface="맑은 고딕" panose="020B0503020000020004" pitchFamily="50" charset="-127"/>
              </a:rPr>
              <a:t>그래서</a:t>
            </a:r>
            <a:r>
              <a:rPr lang="en-US" altLang="ko-KR" sz="1300" b="1">
                <a:solidFill>
                  <a:srgbClr val="3B6FB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3B6FB5"/>
                </a:solidFill>
                <a:latin typeface="맑은 고딕" panose="020B0503020000020004" pitchFamily="50" charset="-127"/>
              </a:rPr>
              <a:t>지금은</a:t>
            </a:r>
            <a:r>
              <a:rPr lang="en-US" altLang="ko-KR" sz="1300" b="1">
                <a:solidFill>
                  <a:srgbClr val="3B6FB5"/>
                </a:solidFill>
                <a:latin typeface="맑은 고딕" panose="020B0503020000020004" pitchFamily="50" charset="-127"/>
              </a:rPr>
              <a:t>…</a:t>
            </a:r>
            <a:endParaRPr lang="ko-KR" altLang="en-US" sz="13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77F002-DD71-0E9F-824C-A80712763C8D}"/>
              </a:ext>
            </a:extLst>
          </p:cNvPr>
          <p:cNvSpPr/>
          <p:nvPr/>
        </p:nvSpPr>
        <p:spPr>
          <a:xfrm>
            <a:off x="6197600" y="1905000"/>
            <a:ext cx="5384800" cy="96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04D24A-4204-4FB7-A223-B0398DC7FA52}"/>
              </a:ext>
            </a:extLst>
          </p:cNvPr>
          <p:cNvSpPr/>
          <p:nvPr/>
        </p:nvSpPr>
        <p:spPr>
          <a:xfrm>
            <a:off x="6197600" y="1905000"/>
            <a:ext cx="76200" cy="9652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2279E-1146-569D-7902-D335EBB7D905}"/>
              </a:ext>
            </a:extLst>
          </p:cNvPr>
          <p:cNvSpPr txBox="1"/>
          <p:nvPr/>
        </p:nvSpPr>
        <p:spPr>
          <a:xfrm>
            <a:off x="6502400" y="2057400"/>
            <a:ext cx="492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 재발급 불가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3C59E3-77AF-D34E-4A91-3DF95E8CCDC0}"/>
              </a:ext>
            </a:extLst>
          </p:cNvPr>
          <p:cNvSpPr txBox="1"/>
          <p:nvPr/>
        </p:nvSpPr>
        <p:spPr>
          <a:xfrm>
            <a:off x="6502400" y="2387600"/>
            <a:ext cx="4927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고객이 다시 받고 싶어도 대응 수단 없음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DA2F1D-B4D6-7C57-761B-B90D552B9E4C}"/>
              </a:ext>
            </a:extLst>
          </p:cNvPr>
          <p:cNvSpPr/>
          <p:nvPr/>
        </p:nvSpPr>
        <p:spPr>
          <a:xfrm>
            <a:off x="6197600" y="3048000"/>
            <a:ext cx="5384800" cy="96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AF24C6-D51F-976A-EB5F-76A565FFDD6D}"/>
              </a:ext>
            </a:extLst>
          </p:cNvPr>
          <p:cNvSpPr/>
          <p:nvPr/>
        </p:nvSpPr>
        <p:spPr>
          <a:xfrm>
            <a:off x="6197600" y="3048000"/>
            <a:ext cx="76200" cy="9652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84B1F-950B-7DA8-2CBE-8C99CC2AB2BA}"/>
              </a:ext>
            </a:extLst>
          </p:cNvPr>
          <p:cNvSpPr txBox="1"/>
          <p:nvPr/>
        </p:nvSpPr>
        <p:spPr>
          <a:xfrm>
            <a:off x="6502400" y="3200400"/>
            <a:ext cx="492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정산</a:t>
            </a:r>
            <a:r>
              <a:rPr lang="en-US" altLang="ko-KR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환불 근거 부재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E48AB-6FD4-8D60-133A-2D7E077E80BD}"/>
              </a:ext>
            </a:extLst>
          </p:cNvPr>
          <p:cNvSpPr txBox="1"/>
          <p:nvPr/>
        </p:nvSpPr>
        <p:spPr>
          <a:xfrm>
            <a:off x="6502400" y="3530600"/>
            <a:ext cx="4927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결제 내역을 추적할 수 없음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29B84E8-12EE-184C-B01A-59B844857759}"/>
              </a:ext>
            </a:extLst>
          </p:cNvPr>
          <p:cNvSpPr/>
          <p:nvPr/>
        </p:nvSpPr>
        <p:spPr>
          <a:xfrm>
            <a:off x="6197600" y="4191000"/>
            <a:ext cx="5384800" cy="96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7C807C-639F-AF34-B55C-9866F418E12C}"/>
              </a:ext>
            </a:extLst>
          </p:cNvPr>
          <p:cNvSpPr/>
          <p:nvPr/>
        </p:nvSpPr>
        <p:spPr>
          <a:xfrm>
            <a:off x="6197600" y="4191000"/>
            <a:ext cx="76200" cy="9652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AF679D-E167-D86F-4C67-7FA6667EC2E2}"/>
              </a:ext>
            </a:extLst>
          </p:cNvPr>
          <p:cNvSpPr txBox="1"/>
          <p:nvPr/>
        </p:nvSpPr>
        <p:spPr>
          <a:xfrm>
            <a:off x="6502400" y="4343400"/>
            <a:ext cx="49276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마진 파악 불가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F198D9-3FF6-BEFB-DFE9-C9C0276DBA57}"/>
              </a:ext>
            </a:extLst>
          </p:cNvPr>
          <p:cNvSpPr txBox="1"/>
          <p:nvPr/>
        </p:nvSpPr>
        <p:spPr>
          <a:xfrm>
            <a:off x="6502400" y="4673600"/>
            <a:ext cx="49276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얼마 벌었는지</a:t>
            </a:r>
            <a:r>
              <a:rPr lang="en-US" altLang="ko-KR" sz="1050">
                <a:solidFill>
                  <a:srgbClr val="64748B"/>
                </a:solidFill>
                <a:latin typeface="맑은 고딕" panose="020B0503020000020004" pitchFamily="50" charset="-127"/>
              </a:rPr>
              <a:t>, AI </a:t>
            </a:r>
            <a:r>
              <a:rPr lang="ko-KR" altLang="en-US" sz="1050">
                <a:solidFill>
                  <a:srgbClr val="64748B"/>
                </a:solidFill>
                <a:latin typeface="맑은 고딕" panose="020B0503020000020004" pitchFamily="50" charset="-127"/>
              </a:rPr>
              <a:t>비용이 얼만지 모름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80BCC19-2D49-E690-D619-A668E54890B0}"/>
              </a:ext>
            </a:extLst>
          </p:cNvPr>
          <p:cNvSpPr/>
          <p:nvPr/>
        </p:nvSpPr>
        <p:spPr>
          <a:xfrm>
            <a:off x="609600" y="5461000"/>
            <a:ext cx="10972800" cy="8128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0C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F8FD09-7BD4-C695-2CCD-441CFAB17693}"/>
              </a:ext>
            </a:extLst>
          </p:cNvPr>
          <p:cNvSpPr txBox="1"/>
          <p:nvPr/>
        </p:nvSpPr>
        <p:spPr>
          <a:xfrm>
            <a:off x="838200" y="5638014"/>
            <a:ext cx="11176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전제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어드민 화면보다 먼저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본 서비스가 주문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·AI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사용을 저장하기 시작하는 선행 작업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(Phase 0)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이 반드시 필요하다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데이터가 없으면 어드민은 빈 화면이다</a:t>
            </a:r>
            <a:r>
              <a:rPr lang="en-US" altLang="ko-KR" sz="1150" b="1">
                <a:solidFill>
                  <a:srgbClr val="7A5B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50" b="1">
              <a:solidFill>
                <a:srgbClr val="7A5B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713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E56733-6940-BD2A-7AE5-DE65487A2C9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6E8A6-746D-C309-C35D-55937BBDB9DB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02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목표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C6EF7-6D89-6E5E-F358-B26D9ED502F5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목표와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차 범위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D12D6-BB3B-3C62-6EA2-79930AF5FE50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04634-503D-D342-4B01-98BEE09DBDCA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04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1AF0AA-72F5-D466-2223-7C7870ADA3B4}"/>
              </a:ext>
            </a:extLst>
          </p:cNvPr>
          <p:cNvSpPr/>
          <p:nvPr/>
        </p:nvSpPr>
        <p:spPr>
          <a:xfrm>
            <a:off x="609600" y="1473200"/>
            <a:ext cx="3454400" cy="889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1AD10-0EEB-EDA3-0DB5-70502CC96167}"/>
              </a:ext>
            </a:extLst>
          </p:cNvPr>
          <p:cNvSpPr txBox="1"/>
          <p:nvPr/>
        </p:nvSpPr>
        <p:spPr>
          <a:xfrm>
            <a:off x="812800" y="1559411"/>
            <a:ext cx="4572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2000" b="1">
                <a:solidFill>
                  <a:srgbClr val="CADCFC"/>
                </a:solidFill>
                <a:latin typeface="맑은 고딕" panose="020B0503020000020004" pitchFamily="50" charset="-127"/>
              </a:rPr>
              <a:t>01</a:t>
            </a:r>
            <a:endParaRPr lang="ko-KR" altLang="en-US" sz="20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80AA5-5DA7-0B72-CE74-A7EBA9BEC429}"/>
              </a:ext>
            </a:extLst>
          </p:cNvPr>
          <p:cNvSpPr txBox="1"/>
          <p:nvPr/>
        </p:nvSpPr>
        <p:spPr>
          <a:xfrm>
            <a:off x="1320800" y="1624814"/>
            <a:ext cx="25908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결제 건을 빠짐없이 기록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1CB3757-9AD1-04AB-9817-8E4D51F69C69}"/>
              </a:ext>
            </a:extLst>
          </p:cNvPr>
          <p:cNvSpPr/>
          <p:nvPr/>
        </p:nvSpPr>
        <p:spPr>
          <a:xfrm>
            <a:off x="4267200" y="1473200"/>
            <a:ext cx="3454400" cy="889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FD6D2-3FA8-AA91-F856-A1B3329A2359}"/>
              </a:ext>
            </a:extLst>
          </p:cNvPr>
          <p:cNvSpPr txBox="1"/>
          <p:nvPr/>
        </p:nvSpPr>
        <p:spPr>
          <a:xfrm>
            <a:off x="4470400" y="1559411"/>
            <a:ext cx="4572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2000" b="1">
                <a:solidFill>
                  <a:srgbClr val="CADCFC"/>
                </a:solidFill>
                <a:latin typeface="맑은 고딕" panose="020B0503020000020004" pitchFamily="50" charset="-127"/>
              </a:rPr>
              <a:t>02</a:t>
            </a:r>
            <a:endParaRPr lang="ko-KR" altLang="en-US" sz="20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DEC3C-5F3F-CA01-771F-770FED5854CA}"/>
              </a:ext>
            </a:extLst>
          </p:cNvPr>
          <p:cNvSpPr txBox="1"/>
          <p:nvPr/>
        </p:nvSpPr>
        <p:spPr>
          <a:xfrm>
            <a:off x="4978400" y="1624814"/>
            <a:ext cx="25908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보고서를 보관하고 언제든 재발급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6EFEC5-11A3-9B81-62BA-BF474DB7546F}"/>
              </a:ext>
            </a:extLst>
          </p:cNvPr>
          <p:cNvSpPr/>
          <p:nvPr/>
        </p:nvSpPr>
        <p:spPr>
          <a:xfrm>
            <a:off x="7924800" y="1473200"/>
            <a:ext cx="3454400" cy="889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B2275-BB4A-C63C-703A-C98C6E6E358C}"/>
              </a:ext>
            </a:extLst>
          </p:cNvPr>
          <p:cNvSpPr txBox="1"/>
          <p:nvPr/>
        </p:nvSpPr>
        <p:spPr>
          <a:xfrm>
            <a:off x="8128000" y="1559411"/>
            <a:ext cx="4572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2000" b="1">
                <a:solidFill>
                  <a:srgbClr val="CADCFC"/>
                </a:solidFill>
                <a:latin typeface="맑은 고딕" panose="020B0503020000020004" pitchFamily="50" charset="-127"/>
              </a:rPr>
              <a:t>03</a:t>
            </a:r>
            <a:endParaRPr lang="ko-KR" altLang="en-US" sz="20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FAF9FE-45E0-9FE1-2C34-E0947CB7F93F}"/>
              </a:ext>
            </a:extLst>
          </p:cNvPr>
          <p:cNvSpPr txBox="1"/>
          <p:nvPr/>
        </p:nvSpPr>
        <p:spPr>
          <a:xfrm>
            <a:off x="8636000" y="1624814"/>
            <a:ext cx="25908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이용을 한 화면에서 파악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7F6C83D-A5F5-EA95-D05C-7AFFB530FA81}"/>
              </a:ext>
            </a:extLst>
          </p:cNvPr>
          <p:cNvSpPr/>
          <p:nvPr/>
        </p:nvSpPr>
        <p:spPr>
          <a:xfrm>
            <a:off x="609600" y="2616200"/>
            <a:ext cx="52070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4BAAE19-79A9-0A4C-11A3-7D1761C80D2B}"/>
              </a:ext>
            </a:extLst>
          </p:cNvPr>
          <p:cNvSpPr/>
          <p:nvPr/>
        </p:nvSpPr>
        <p:spPr>
          <a:xfrm>
            <a:off x="609600" y="2616200"/>
            <a:ext cx="5207000" cy="5080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3BD4E-5DFD-BA56-B405-9FDDAC3096F7}"/>
              </a:ext>
            </a:extLst>
          </p:cNvPr>
          <p:cNvSpPr txBox="1"/>
          <p:nvPr/>
        </p:nvSpPr>
        <p:spPr>
          <a:xfrm>
            <a:off x="863600" y="2646977"/>
            <a:ext cx="482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400" b="1">
                <a:solidFill>
                  <a:srgbClr val="1B7A41"/>
                </a:solidFill>
                <a:latin typeface="맑은 고딕" panose="020B0503020000020004" pitchFamily="50" charset="-127"/>
              </a:rPr>
              <a:t>✅  </a:t>
            </a:r>
            <a:r>
              <a:rPr lang="en-US" altLang="ko-KR" sz="1400" b="1">
                <a:solidFill>
                  <a:srgbClr val="1B7A41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b="1">
                <a:solidFill>
                  <a:srgbClr val="1B7A41"/>
                </a:solidFill>
                <a:latin typeface="맑은 고딕" panose="020B0503020000020004" pitchFamily="50" charset="-127"/>
              </a:rPr>
              <a:t>차 포함 </a:t>
            </a:r>
            <a:r>
              <a:rPr lang="en-US" altLang="ko-KR" sz="1400" b="1">
                <a:solidFill>
                  <a:srgbClr val="1B7A41"/>
                </a:solidFill>
                <a:latin typeface="맑은 고딕" panose="020B0503020000020004" pitchFamily="50" charset="-127"/>
              </a:rPr>
              <a:t>(In Scope)</a:t>
            </a:r>
            <a:endParaRPr lang="ko-KR" altLang="en-US" sz="1400" b="1">
              <a:solidFill>
                <a:srgbClr val="1B7A4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23F73-01CA-EFEB-0702-50039486C8E9}"/>
              </a:ext>
            </a:extLst>
          </p:cNvPr>
          <p:cNvSpPr txBox="1"/>
          <p:nvPr/>
        </p:nvSpPr>
        <p:spPr>
          <a:xfrm>
            <a:off x="939800" y="3297366"/>
            <a:ext cx="457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결제 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통합 상세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(360°)</a:t>
            </a:r>
            <a:endParaRPr lang="ko-KR" altLang="en-US" sz="1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D09E80-ABC6-8BEF-D2C6-5A7542F108D7}"/>
              </a:ext>
            </a:extLst>
          </p:cNvPr>
          <p:cNvSpPr txBox="1"/>
          <p:nvPr/>
        </p:nvSpPr>
        <p:spPr>
          <a:xfrm>
            <a:off x="939800" y="3856166"/>
            <a:ext cx="457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이용 통계  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F28727-7BB5-60EF-CBF5-9258156A6DE7}"/>
              </a:ext>
            </a:extLst>
          </p:cNvPr>
          <p:cNvSpPr txBox="1"/>
          <p:nvPr/>
        </p:nvSpPr>
        <p:spPr>
          <a:xfrm>
            <a:off x="939800" y="4414966"/>
            <a:ext cx="457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보고서 조회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재발급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BB5813-6152-669C-13BD-956B966498BF}"/>
              </a:ext>
            </a:extLst>
          </p:cNvPr>
          <p:cNvSpPr txBox="1"/>
          <p:nvPr/>
        </p:nvSpPr>
        <p:spPr>
          <a:xfrm>
            <a:off x="939800" y="4973766"/>
            <a:ext cx="457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회원 관리 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구매이력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7BC73A-06CA-9E33-8BAD-7FA1EDC2BB09}"/>
              </a:ext>
            </a:extLst>
          </p:cNvPr>
          <p:cNvSpPr txBox="1"/>
          <p:nvPr/>
        </p:nvSpPr>
        <p:spPr>
          <a:xfrm>
            <a:off x="939800" y="5532566"/>
            <a:ext cx="457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운영자 로그인 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1F2937"/>
                </a:solidFill>
                <a:latin typeface="맑은 고딕" panose="020B0503020000020004" pitchFamily="50" charset="-127"/>
              </a:rPr>
              <a:t>인증</a:t>
            </a:r>
            <a:r>
              <a:rPr lang="en-US" altLang="ko-KR" sz="1200">
                <a:solidFill>
                  <a:srgbClr val="1F2937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7CD02AF-589A-ED72-63A7-14FA2F938200}"/>
              </a:ext>
            </a:extLst>
          </p:cNvPr>
          <p:cNvSpPr/>
          <p:nvPr/>
        </p:nvSpPr>
        <p:spPr>
          <a:xfrm>
            <a:off x="6197600" y="2616200"/>
            <a:ext cx="53848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279982-F4C7-1DA7-9B19-509E1CA03EF8}"/>
              </a:ext>
            </a:extLst>
          </p:cNvPr>
          <p:cNvSpPr/>
          <p:nvPr/>
        </p:nvSpPr>
        <p:spPr>
          <a:xfrm>
            <a:off x="6197600" y="2616200"/>
            <a:ext cx="5384800" cy="508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5EA022-61E6-D7A3-E962-2DE17A82775F}"/>
              </a:ext>
            </a:extLst>
          </p:cNvPr>
          <p:cNvSpPr txBox="1"/>
          <p:nvPr/>
        </p:nvSpPr>
        <p:spPr>
          <a:xfrm>
            <a:off x="6451600" y="2646977"/>
            <a:ext cx="4953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400" b="1">
                <a:solidFill>
                  <a:srgbClr val="64748B"/>
                </a:solidFill>
                <a:latin typeface="맑은 고딕" panose="020B0503020000020004" pitchFamily="50" charset="-127"/>
              </a:rPr>
              <a:t>⏸  </a:t>
            </a:r>
            <a:r>
              <a:rPr lang="ko-KR" altLang="en-US" sz="1400" b="1">
                <a:solidFill>
                  <a:srgbClr val="64748B"/>
                </a:solidFill>
                <a:latin typeface="맑은 고딕" panose="020B0503020000020004" pitchFamily="50" charset="-127"/>
              </a:rPr>
              <a:t>후순위 </a:t>
            </a:r>
            <a:r>
              <a:rPr lang="en-US" altLang="ko-KR" sz="1400" b="1">
                <a:solidFill>
                  <a:srgbClr val="64748B"/>
                </a:solidFill>
                <a:latin typeface="맑은 고딕" panose="020B0503020000020004" pitchFamily="50" charset="-127"/>
              </a:rPr>
              <a:t>(Out of Scope)</a:t>
            </a:r>
            <a:endParaRPr lang="ko-KR" altLang="en-US" sz="1400" b="1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8EC9C-CB2C-3855-A017-5BD80598832D}"/>
              </a:ext>
            </a:extLst>
          </p:cNvPr>
          <p:cNvSpPr txBox="1"/>
          <p:nvPr/>
        </p:nvSpPr>
        <p:spPr>
          <a:xfrm>
            <a:off x="6477000" y="3276600"/>
            <a:ext cx="381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콘텐츠 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B30B32-D680-2D6A-EF19-672D0503A852}"/>
              </a:ext>
            </a:extLst>
          </p:cNvPr>
          <p:cNvSpPr txBox="1"/>
          <p:nvPr/>
        </p:nvSpPr>
        <p:spPr>
          <a:xfrm>
            <a:off x="6477000" y="3517900"/>
            <a:ext cx="4038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한자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DB·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금기 한자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현대명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DB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04CE296-64F7-2EDD-34C2-661814465989}"/>
              </a:ext>
            </a:extLst>
          </p:cNvPr>
          <p:cNvSpPr/>
          <p:nvPr/>
        </p:nvSpPr>
        <p:spPr>
          <a:xfrm>
            <a:off x="10414000" y="3327400"/>
            <a:ext cx="863600" cy="203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9B8B41-3466-D96C-A2A5-C24C2D77070D}"/>
              </a:ext>
            </a:extLst>
          </p:cNvPr>
          <p:cNvSpPr txBox="1"/>
          <p:nvPr/>
        </p:nvSpPr>
        <p:spPr>
          <a:xfrm>
            <a:off x="10414000" y="3391644"/>
            <a:ext cx="863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1D44F6-31C5-DB6E-0C88-B560A78F0DD5}"/>
              </a:ext>
            </a:extLst>
          </p:cNvPr>
          <p:cNvSpPr txBox="1"/>
          <p:nvPr/>
        </p:nvSpPr>
        <p:spPr>
          <a:xfrm>
            <a:off x="6477000" y="3962400"/>
            <a:ext cx="381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운영 설정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89C98E-19F0-0372-5517-B61BA8DDA737}"/>
              </a:ext>
            </a:extLst>
          </p:cNvPr>
          <p:cNvSpPr txBox="1"/>
          <p:nvPr/>
        </p:nvSpPr>
        <p:spPr>
          <a:xfrm>
            <a:off x="6477000" y="4203700"/>
            <a:ext cx="4038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가격 변경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점검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(maintenance)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모드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A1857E8-E025-93F0-5A77-D497903FB90D}"/>
              </a:ext>
            </a:extLst>
          </p:cNvPr>
          <p:cNvSpPr/>
          <p:nvPr/>
        </p:nvSpPr>
        <p:spPr>
          <a:xfrm>
            <a:off x="10414000" y="4013200"/>
            <a:ext cx="863600" cy="203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AB609-F759-A4B8-9DA6-6FEC03598BF9}"/>
              </a:ext>
            </a:extLst>
          </p:cNvPr>
          <p:cNvSpPr txBox="1"/>
          <p:nvPr/>
        </p:nvSpPr>
        <p:spPr>
          <a:xfrm>
            <a:off x="10414000" y="4077444"/>
            <a:ext cx="863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811006-B9DD-C400-2ED4-26C5A7E71A4E}"/>
              </a:ext>
            </a:extLst>
          </p:cNvPr>
          <p:cNvSpPr txBox="1"/>
          <p:nvPr/>
        </p:nvSpPr>
        <p:spPr>
          <a:xfrm>
            <a:off x="6477000" y="4648200"/>
            <a:ext cx="381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회원 등급</a:t>
            </a:r>
            <a:r>
              <a:rPr lang="en-US" altLang="ko-KR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포인트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D6887-69E2-6164-63CE-170AEB8853A7}"/>
              </a:ext>
            </a:extLst>
          </p:cNvPr>
          <p:cNvSpPr txBox="1"/>
          <p:nvPr/>
        </p:nvSpPr>
        <p:spPr>
          <a:xfrm>
            <a:off x="6477000" y="4889500"/>
            <a:ext cx="4038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회원정보 조회는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등급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·CRM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은 후순위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650C1E0-8AA6-2D92-DB32-9CFD905FD54A}"/>
              </a:ext>
            </a:extLst>
          </p:cNvPr>
          <p:cNvSpPr/>
          <p:nvPr/>
        </p:nvSpPr>
        <p:spPr>
          <a:xfrm>
            <a:off x="10414000" y="4699000"/>
            <a:ext cx="863600" cy="203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50A748-BDC6-34A2-B2D3-CCC79A8C17D3}"/>
              </a:ext>
            </a:extLst>
          </p:cNvPr>
          <p:cNvSpPr txBox="1"/>
          <p:nvPr/>
        </p:nvSpPr>
        <p:spPr>
          <a:xfrm>
            <a:off x="10414000" y="4763244"/>
            <a:ext cx="863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080487-0B2F-8CE8-DC78-65D931C424CD}"/>
              </a:ext>
            </a:extLst>
          </p:cNvPr>
          <p:cNvSpPr txBox="1"/>
          <p:nvPr/>
        </p:nvSpPr>
        <p:spPr>
          <a:xfrm>
            <a:off x="6477000" y="5334000"/>
            <a:ext cx="381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50" charset="-127"/>
              </a:rPr>
              <a:t>고급 통계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6BA849-3DC2-68F3-BBF1-29B35450F764}"/>
              </a:ext>
            </a:extLst>
          </p:cNvPr>
          <p:cNvSpPr txBox="1"/>
          <p:nvPr/>
        </p:nvSpPr>
        <p:spPr>
          <a:xfrm>
            <a:off x="6477000" y="5575300"/>
            <a:ext cx="4038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전환율 퍼널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·AI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비용 대시보드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FED5294-241B-54B9-0E4B-0932F134D45A}"/>
              </a:ext>
            </a:extLst>
          </p:cNvPr>
          <p:cNvSpPr/>
          <p:nvPr/>
        </p:nvSpPr>
        <p:spPr>
          <a:xfrm>
            <a:off x="10617200" y="53848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506A3A-E184-451B-8BDD-7AD0563548CC}"/>
              </a:ext>
            </a:extLst>
          </p:cNvPr>
          <p:cNvSpPr txBox="1"/>
          <p:nvPr/>
        </p:nvSpPr>
        <p:spPr>
          <a:xfrm>
            <a:off x="10617200" y="5449044"/>
            <a:ext cx="660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</p:spTree>
    <p:extLst>
      <p:ext uri="{BB962C8B-B14F-4D97-AF65-F5344CB8AC3E}">
        <p14:creationId xmlns:p14="http://schemas.microsoft.com/office/powerpoint/2010/main" val="401681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299DE4-FF5E-097B-2477-5C4FC027F26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4D5B8-794D-1442-81F0-22CDCAB37697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03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정보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40607-2A5A-0F76-CDBB-E275FBB083FA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정보 구조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메뉴 트리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AA8DE-44DA-32E7-B6A6-AA92E2A96017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81AB4-6E3D-1E32-6AF7-F0D44A15C5C1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05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1067BB5-E5A4-9B29-C1AD-B8F0A7277C63}"/>
              </a:ext>
            </a:extLst>
          </p:cNvPr>
          <p:cNvSpPr/>
          <p:nvPr/>
        </p:nvSpPr>
        <p:spPr>
          <a:xfrm>
            <a:off x="1016000" y="1905000"/>
            <a:ext cx="1905000" cy="635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8431B-8147-0E7C-8A3C-8128BECB6162}"/>
              </a:ext>
            </a:extLst>
          </p:cNvPr>
          <p:cNvSpPr txBox="1"/>
          <p:nvPr/>
        </p:nvSpPr>
        <p:spPr>
          <a:xfrm>
            <a:off x="1016000" y="1943472"/>
            <a:ext cx="1905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🔐  로그인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DB12C6-6152-048F-3E6E-14DA97DAE1B4}"/>
              </a:ext>
            </a:extLst>
          </p:cNvPr>
          <p:cNvCxnSpPr/>
          <p:nvPr/>
        </p:nvCxnSpPr>
        <p:spPr>
          <a:xfrm>
            <a:off x="2921000" y="2222500"/>
            <a:ext cx="8890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F7A79F-4439-19B9-6DE6-95C4E46C9C44}"/>
              </a:ext>
            </a:extLst>
          </p:cNvPr>
          <p:cNvSpPr/>
          <p:nvPr/>
        </p:nvSpPr>
        <p:spPr>
          <a:xfrm>
            <a:off x="3810000" y="1905000"/>
            <a:ext cx="2159000" cy="6350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E6517-F825-739C-B2C9-07CDBC0ADA60}"/>
              </a:ext>
            </a:extLst>
          </p:cNvPr>
          <p:cNvSpPr txBox="1"/>
          <p:nvPr/>
        </p:nvSpPr>
        <p:spPr>
          <a:xfrm>
            <a:off x="3810000" y="1947319"/>
            <a:ext cx="215900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250" b="1">
                <a:solidFill>
                  <a:srgbClr val="FFFFFF"/>
                </a:solidFill>
                <a:latin typeface="맑은 고딕" panose="020B0503020000020004" pitchFamily="50" charset="-127"/>
              </a:rPr>
              <a:t>📊  대시보드 </a:t>
            </a:r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50" b="1">
                <a:solidFill>
                  <a:srgbClr val="FFFFFF"/>
                </a:solidFill>
                <a:latin typeface="맑은 고딕" panose="020B0503020000020004" pitchFamily="50" charset="-127"/>
              </a:rPr>
              <a:t>홈</a:t>
            </a:r>
            <a:r>
              <a:rPr lang="en-US" altLang="ko-KR" sz="1250" b="1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12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68433C2-DD6E-DC43-903F-29EE7D8B3B7B}"/>
              </a:ext>
            </a:extLst>
          </p:cNvPr>
          <p:cNvCxnSpPr/>
          <p:nvPr/>
        </p:nvCxnSpPr>
        <p:spPr>
          <a:xfrm>
            <a:off x="5969000" y="2222500"/>
            <a:ext cx="5080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8A968FC-4CAE-661D-1FF1-061E50A2318F}"/>
              </a:ext>
            </a:extLst>
          </p:cNvPr>
          <p:cNvCxnSpPr/>
          <p:nvPr/>
        </p:nvCxnSpPr>
        <p:spPr>
          <a:xfrm>
            <a:off x="6477000" y="1612900"/>
            <a:ext cx="0" cy="350520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48BDB0-990C-D190-8391-E7499AC31493}"/>
              </a:ext>
            </a:extLst>
          </p:cNvPr>
          <p:cNvCxnSpPr/>
          <p:nvPr/>
        </p:nvCxnSpPr>
        <p:spPr>
          <a:xfrm>
            <a:off x="6477000" y="16129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0327D33-39B1-251A-7BB2-466B11453D1E}"/>
              </a:ext>
            </a:extLst>
          </p:cNvPr>
          <p:cNvSpPr/>
          <p:nvPr/>
        </p:nvSpPr>
        <p:spPr>
          <a:xfrm>
            <a:off x="6959600" y="1320800"/>
            <a:ext cx="2387600" cy="5842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B4C8B-2521-3919-79F3-50E419A96AC4}"/>
              </a:ext>
            </a:extLst>
          </p:cNvPr>
          <p:cNvSpPr txBox="1"/>
          <p:nvPr/>
        </p:nvSpPr>
        <p:spPr>
          <a:xfrm>
            <a:off x="6959600" y="1370813"/>
            <a:ext cx="2387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🧾  주문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C632BB1-C991-43F2-0C23-DEF7A1676E12}"/>
              </a:ext>
            </a:extLst>
          </p:cNvPr>
          <p:cNvSpPr/>
          <p:nvPr/>
        </p:nvSpPr>
        <p:spPr>
          <a:xfrm>
            <a:off x="9550400" y="13208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6A693-5317-75D1-861F-322A29E9731F}"/>
              </a:ext>
            </a:extLst>
          </p:cNvPr>
          <p:cNvSpPr txBox="1"/>
          <p:nvPr/>
        </p:nvSpPr>
        <p:spPr>
          <a:xfrm>
            <a:off x="9626600" y="13938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주문 목록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5E98EB4-92F7-283A-7507-61E04D4127BB}"/>
              </a:ext>
            </a:extLst>
          </p:cNvPr>
          <p:cNvSpPr/>
          <p:nvPr/>
        </p:nvSpPr>
        <p:spPr>
          <a:xfrm>
            <a:off x="9550400" y="16129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61D731-E336-BAC9-58B3-A32160E4996C}"/>
              </a:ext>
            </a:extLst>
          </p:cNvPr>
          <p:cNvSpPr txBox="1"/>
          <p:nvPr/>
        </p:nvSpPr>
        <p:spPr>
          <a:xfrm>
            <a:off x="9626600" y="16859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★ 통합 상세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(360°)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DC25D69-A8DD-4986-3AD7-66D9D836FBAA}"/>
              </a:ext>
            </a:extLst>
          </p:cNvPr>
          <p:cNvCxnSpPr/>
          <p:nvPr/>
        </p:nvCxnSpPr>
        <p:spPr>
          <a:xfrm>
            <a:off x="6477000" y="27813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F992A63-21AC-A196-269F-00081F3262E8}"/>
              </a:ext>
            </a:extLst>
          </p:cNvPr>
          <p:cNvSpPr/>
          <p:nvPr/>
        </p:nvSpPr>
        <p:spPr>
          <a:xfrm>
            <a:off x="6959600" y="2489200"/>
            <a:ext cx="2387600" cy="5842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5E1D0-C1BB-0782-DC56-CCFD2CC8BDB1}"/>
              </a:ext>
            </a:extLst>
          </p:cNvPr>
          <p:cNvSpPr txBox="1"/>
          <p:nvPr/>
        </p:nvSpPr>
        <p:spPr>
          <a:xfrm>
            <a:off x="6959600" y="2539213"/>
            <a:ext cx="2387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📄  보고서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EF81740-22AF-5F4C-E752-F62F35EA40B3}"/>
              </a:ext>
            </a:extLst>
          </p:cNvPr>
          <p:cNvSpPr/>
          <p:nvPr/>
        </p:nvSpPr>
        <p:spPr>
          <a:xfrm>
            <a:off x="9550400" y="24892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5D5F06-7D49-6705-4329-134C43ADC739}"/>
              </a:ext>
            </a:extLst>
          </p:cNvPr>
          <p:cNvSpPr txBox="1"/>
          <p:nvPr/>
        </p:nvSpPr>
        <p:spPr>
          <a:xfrm>
            <a:off x="9626600" y="25622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보고서 목록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F7230B2-6F39-45C6-4840-2D281A6B8757}"/>
              </a:ext>
            </a:extLst>
          </p:cNvPr>
          <p:cNvSpPr/>
          <p:nvPr/>
        </p:nvSpPr>
        <p:spPr>
          <a:xfrm>
            <a:off x="9550400" y="27813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0CDFFF-854F-3C62-B7CF-0C99FF0786B5}"/>
              </a:ext>
            </a:extLst>
          </p:cNvPr>
          <p:cNvSpPr txBox="1"/>
          <p:nvPr/>
        </p:nvSpPr>
        <p:spPr>
          <a:xfrm>
            <a:off x="9626600" y="28543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상세 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(+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재발급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)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6DABE5C-603D-D1BB-92D5-3DF00FAD3D49}"/>
              </a:ext>
            </a:extLst>
          </p:cNvPr>
          <p:cNvCxnSpPr/>
          <p:nvPr/>
        </p:nvCxnSpPr>
        <p:spPr>
          <a:xfrm>
            <a:off x="6477000" y="39497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7039CCE-E6F1-D7BE-54DD-326A563C73CB}"/>
              </a:ext>
            </a:extLst>
          </p:cNvPr>
          <p:cNvSpPr/>
          <p:nvPr/>
        </p:nvSpPr>
        <p:spPr>
          <a:xfrm>
            <a:off x="6959600" y="3657600"/>
            <a:ext cx="2387600" cy="5842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A55163-DE64-5E44-C318-F2A5E26E87F5}"/>
              </a:ext>
            </a:extLst>
          </p:cNvPr>
          <p:cNvSpPr txBox="1"/>
          <p:nvPr/>
        </p:nvSpPr>
        <p:spPr>
          <a:xfrm>
            <a:off x="6959600" y="3707613"/>
            <a:ext cx="2387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👤  회원  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11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96F03A3-B6B7-BE5E-A892-CF00E9179063}"/>
              </a:ext>
            </a:extLst>
          </p:cNvPr>
          <p:cNvSpPr/>
          <p:nvPr/>
        </p:nvSpPr>
        <p:spPr>
          <a:xfrm>
            <a:off x="9550400" y="36576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73B09F-AEAB-9721-34FC-CD5BBCB9AFD4}"/>
              </a:ext>
            </a:extLst>
          </p:cNvPr>
          <p:cNvSpPr txBox="1"/>
          <p:nvPr/>
        </p:nvSpPr>
        <p:spPr>
          <a:xfrm>
            <a:off x="9626600" y="37306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회원 목록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B1BD952-FDFC-BB27-CC35-90D228FEDEBF}"/>
              </a:ext>
            </a:extLst>
          </p:cNvPr>
          <p:cNvSpPr/>
          <p:nvPr/>
        </p:nvSpPr>
        <p:spPr>
          <a:xfrm>
            <a:off x="9550400" y="39497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4CF4F3-C0AB-71F2-8C11-E2A1553390A5}"/>
              </a:ext>
            </a:extLst>
          </p:cNvPr>
          <p:cNvSpPr txBox="1"/>
          <p:nvPr/>
        </p:nvSpPr>
        <p:spPr>
          <a:xfrm>
            <a:off x="9626600" y="40227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회원 상세 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정보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이력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)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1A15662-8DD1-F897-1A9B-D8573302A673}"/>
              </a:ext>
            </a:extLst>
          </p:cNvPr>
          <p:cNvCxnSpPr/>
          <p:nvPr/>
        </p:nvCxnSpPr>
        <p:spPr>
          <a:xfrm>
            <a:off x="6477000" y="51181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BF59275-02DF-2586-FBB3-C04DE9698EAA}"/>
              </a:ext>
            </a:extLst>
          </p:cNvPr>
          <p:cNvSpPr/>
          <p:nvPr/>
        </p:nvSpPr>
        <p:spPr>
          <a:xfrm>
            <a:off x="6959600" y="4826000"/>
            <a:ext cx="2387600" cy="584200"/>
          </a:xfrm>
          <a:prstGeom prst="roundRect">
            <a:avLst>
              <a:gd name="adj" fmla="val 6000"/>
            </a:avLst>
          </a:prstGeom>
          <a:solidFill>
            <a:srgbClr val="A3AE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B8A115-B51B-5EBF-1EF4-7A1A21C964D4}"/>
              </a:ext>
            </a:extLst>
          </p:cNvPr>
          <p:cNvSpPr txBox="1"/>
          <p:nvPr/>
        </p:nvSpPr>
        <p:spPr>
          <a:xfrm>
            <a:off x="6959600" y="4876013"/>
            <a:ext cx="2387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맑은 고딕" panose="020B0503020000020004" pitchFamily="50" charset="-127"/>
              </a:rPr>
              <a:t>⚙️  설정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80A320-7B3A-9287-BF03-4B63DB18AD59}"/>
              </a:ext>
            </a:extLst>
          </p:cNvPr>
          <p:cNvSpPr/>
          <p:nvPr/>
        </p:nvSpPr>
        <p:spPr>
          <a:xfrm>
            <a:off x="9550400" y="4826000"/>
            <a:ext cx="22606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BE83E8-4D5B-EF2F-0C65-847BFDAB9D2F}"/>
              </a:ext>
            </a:extLst>
          </p:cNvPr>
          <p:cNvSpPr txBox="1"/>
          <p:nvPr/>
        </p:nvSpPr>
        <p:spPr>
          <a:xfrm>
            <a:off x="9626600" y="4899097"/>
            <a:ext cx="226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콘텐츠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가격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점검 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50">
                <a:solidFill>
                  <a:srgbClr val="475569"/>
                </a:solidFill>
                <a:latin typeface="맑은 고딕" panose="020B0503020000020004" pitchFamily="50" charset="-127"/>
              </a:rPr>
              <a:t>후순위</a:t>
            </a:r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)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823AD94-E279-547F-F38F-D5F5ADBCF837}"/>
              </a:ext>
            </a:extLst>
          </p:cNvPr>
          <p:cNvSpPr/>
          <p:nvPr/>
        </p:nvSpPr>
        <p:spPr>
          <a:xfrm>
            <a:off x="1016000" y="3175000"/>
            <a:ext cx="4572000" cy="1397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B3C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E4108A-5D20-DBEA-4A4A-A7C8C658D369}"/>
              </a:ext>
            </a:extLst>
          </p:cNvPr>
          <p:cNvSpPr txBox="1"/>
          <p:nvPr/>
        </p:nvSpPr>
        <p:spPr>
          <a:xfrm>
            <a:off x="1219200" y="3327400"/>
            <a:ext cx="419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★ 통합 상세 </a:t>
            </a:r>
            <a:r>
              <a:rPr lang="en-US" altLang="ko-KR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(360°) </a:t>
            </a:r>
            <a:r>
              <a:rPr lang="ko-KR" altLang="en-US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원칙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ED668F-F336-F060-BB23-7976421A8FF6}"/>
              </a:ext>
            </a:extLst>
          </p:cNvPr>
          <p:cNvSpPr txBox="1"/>
          <p:nvPr/>
        </p:nvSpPr>
        <p:spPr>
          <a:xfrm>
            <a:off x="1219200" y="3632200"/>
            <a:ext cx="4191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회원 어느 탭으로 들어오든 회원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결제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환불을 한 화면에서 본다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 '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환불은 주문 탭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재발급은 보고서 탭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처럼 흩어지지 않게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549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366C73-D2E4-AE09-520D-0C7CCD2F075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5C0E2-2048-8EE2-C7A8-994C6ADA0F0F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04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기능 요구사항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B644D-ECC5-E88B-FB80-ACE40ED3764B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기능 요구사항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(F-01 ~ F-14)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33ECD-C896-D73C-ED21-DE3F93F34F48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C5785-A97C-CD13-3D74-013EFA570659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06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64D289-E5D3-AAE3-5D9A-874CEB59E925}"/>
              </a:ext>
            </a:extLst>
          </p:cNvPr>
          <p:cNvSpPr/>
          <p:nvPr/>
        </p:nvSpPr>
        <p:spPr>
          <a:xfrm>
            <a:off x="609600" y="14224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0085646-6FA8-15B2-754F-B9D460F99A31}"/>
              </a:ext>
            </a:extLst>
          </p:cNvPr>
          <p:cNvSpPr/>
          <p:nvPr/>
        </p:nvSpPr>
        <p:spPr>
          <a:xfrm>
            <a:off x="762000" y="15748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2E8D9-5347-7658-8083-99AF5AA17D93}"/>
              </a:ext>
            </a:extLst>
          </p:cNvPr>
          <p:cNvSpPr txBox="1"/>
          <p:nvPr/>
        </p:nvSpPr>
        <p:spPr>
          <a:xfrm>
            <a:off x="762000" y="16325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F-01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DAED3-A6B7-6A19-0C02-7DCA7B9A58B7}"/>
              </a:ext>
            </a:extLst>
          </p:cNvPr>
          <p:cNvSpPr txBox="1"/>
          <p:nvPr/>
        </p:nvSpPr>
        <p:spPr>
          <a:xfrm>
            <a:off x="1524000" y="15113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운영자 로그인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51742-3DE8-968A-8585-B9339E01AD62}"/>
              </a:ext>
            </a:extLst>
          </p:cNvPr>
          <p:cNvSpPr txBox="1"/>
          <p:nvPr/>
        </p:nvSpPr>
        <p:spPr>
          <a:xfrm>
            <a:off x="1524000" y="17653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허용된 운영자만 인증 후 접근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FC1030-54FB-7765-297A-8463837FF269}"/>
              </a:ext>
            </a:extLst>
          </p:cNvPr>
          <p:cNvSpPr/>
          <p:nvPr/>
        </p:nvSpPr>
        <p:spPr>
          <a:xfrm>
            <a:off x="5359400" y="1524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AC05C0-4F1D-83B6-99FA-9281B83FCCFE}"/>
              </a:ext>
            </a:extLst>
          </p:cNvPr>
          <p:cNvSpPr txBox="1"/>
          <p:nvPr/>
        </p:nvSpPr>
        <p:spPr>
          <a:xfrm>
            <a:off x="5359400" y="1588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F9AAEDE-6704-BA51-3671-4D7AF85D029A}"/>
              </a:ext>
            </a:extLst>
          </p:cNvPr>
          <p:cNvSpPr/>
          <p:nvPr/>
        </p:nvSpPr>
        <p:spPr>
          <a:xfrm>
            <a:off x="6273800" y="14224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A25631-79D6-18B5-EFC2-802A5058A425}"/>
              </a:ext>
            </a:extLst>
          </p:cNvPr>
          <p:cNvSpPr/>
          <p:nvPr/>
        </p:nvSpPr>
        <p:spPr>
          <a:xfrm>
            <a:off x="6426200" y="15748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8F8D8-956E-AE80-D26E-48E232BE3FF6}"/>
              </a:ext>
            </a:extLst>
          </p:cNvPr>
          <p:cNvSpPr txBox="1"/>
          <p:nvPr/>
        </p:nvSpPr>
        <p:spPr>
          <a:xfrm>
            <a:off x="6426200" y="16325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F-02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D3DEA-C550-2F5B-FA72-55125AD9AC2D}"/>
              </a:ext>
            </a:extLst>
          </p:cNvPr>
          <p:cNvSpPr txBox="1"/>
          <p:nvPr/>
        </p:nvSpPr>
        <p:spPr>
          <a:xfrm>
            <a:off x="7188200" y="15113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937D39-E78E-DE2A-A68E-B8541D05E4A2}"/>
              </a:ext>
            </a:extLst>
          </p:cNvPr>
          <p:cNvSpPr txBox="1"/>
          <p:nvPr/>
        </p:nvSpPr>
        <p:spPr>
          <a:xfrm>
            <a:off x="7188200" y="17653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오늘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이번달 매출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주문 요약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085EF8-859B-C49C-A2A0-2E405CA7E1A7}"/>
              </a:ext>
            </a:extLst>
          </p:cNvPr>
          <p:cNvSpPr/>
          <p:nvPr/>
        </p:nvSpPr>
        <p:spPr>
          <a:xfrm>
            <a:off x="11023600" y="1524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BB929-EB9B-CC0D-D220-5E299B8FC06F}"/>
              </a:ext>
            </a:extLst>
          </p:cNvPr>
          <p:cNvSpPr txBox="1"/>
          <p:nvPr/>
        </p:nvSpPr>
        <p:spPr>
          <a:xfrm>
            <a:off x="11023600" y="1588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913DFB4-2847-5F12-4A1B-DCCE79063FA2}"/>
              </a:ext>
            </a:extLst>
          </p:cNvPr>
          <p:cNvSpPr/>
          <p:nvPr/>
        </p:nvSpPr>
        <p:spPr>
          <a:xfrm>
            <a:off x="609600" y="21082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8EDE6C-6B17-F16E-8A8B-25F5D268F556}"/>
              </a:ext>
            </a:extLst>
          </p:cNvPr>
          <p:cNvSpPr/>
          <p:nvPr/>
        </p:nvSpPr>
        <p:spPr>
          <a:xfrm>
            <a:off x="762000" y="22606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F4C42C-49A4-4447-1FBB-CCDCAA3CB24B}"/>
              </a:ext>
            </a:extLst>
          </p:cNvPr>
          <p:cNvSpPr txBox="1"/>
          <p:nvPr/>
        </p:nvSpPr>
        <p:spPr>
          <a:xfrm>
            <a:off x="762000" y="23183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F-03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722132-5F89-FD96-CD38-2324E40A7C88}"/>
              </a:ext>
            </a:extLst>
          </p:cNvPr>
          <p:cNvSpPr txBox="1"/>
          <p:nvPr/>
        </p:nvSpPr>
        <p:spPr>
          <a:xfrm>
            <a:off x="1524000" y="21971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주문 목록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BABC8F-79CA-3FD7-B289-4D3C9FB68B13}"/>
              </a:ext>
            </a:extLst>
          </p:cNvPr>
          <p:cNvSpPr txBox="1"/>
          <p:nvPr/>
        </p:nvSpPr>
        <p:spPr>
          <a:xfrm>
            <a:off x="1524000" y="24511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상품 필터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검색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62C3A65-4ABA-6700-E030-B0D777DEB358}"/>
              </a:ext>
            </a:extLst>
          </p:cNvPr>
          <p:cNvSpPr/>
          <p:nvPr/>
        </p:nvSpPr>
        <p:spPr>
          <a:xfrm>
            <a:off x="5359400" y="22098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B90573-8BC8-DDA0-9AFE-3100B185B024}"/>
              </a:ext>
            </a:extLst>
          </p:cNvPr>
          <p:cNvSpPr txBox="1"/>
          <p:nvPr/>
        </p:nvSpPr>
        <p:spPr>
          <a:xfrm>
            <a:off x="5359400" y="22740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E1CF05D-A2DA-1A0B-16F7-3487690D3F8E}"/>
              </a:ext>
            </a:extLst>
          </p:cNvPr>
          <p:cNvSpPr/>
          <p:nvPr/>
        </p:nvSpPr>
        <p:spPr>
          <a:xfrm>
            <a:off x="6273800" y="21082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FF49927-D7D9-A647-BAC9-6BCD9D4FC49F}"/>
              </a:ext>
            </a:extLst>
          </p:cNvPr>
          <p:cNvSpPr/>
          <p:nvPr/>
        </p:nvSpPr>
        <p:spPr>
          <a:xfrm>
            <a:off x="6426200" y="22606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71DA9E-2C9E-7E26-562C-ACBFE7E6D128}"/>
              </a:ext>
            </a:extLst>
          </p:cNvPr>
          <p:cNvSpPr txBox="1"/>
          <p:nvPr/>
        </p:nvSpPr>
        <p:spPr>
          <a:xfrm>
            <a:off x="6426200" y="23183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F-04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3ED607-FC0B-1E44-F884-DEDCB506299B}"/>
              </a:ext>
            </a:extLst>
          </p:cNvPr>
          <p:cNvSpPr txBox="1"/>
          <p:nvPr/>
        </p:nvSpPr>
        <p:spPr>
          <a:xfrm>
            <a:off x="7188200" y="21971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통합 상세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(360°)</a:t>
            </a:r>
            <a:endParaRPr lang="ko-KR" altLang="en-US" sz="12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E9C652-4735-E893-C854-01B9081555CB}"/>
              </a:ext>
            </a:extLst>
          </p:cNvPr>
          <p:cNvSpPr txBox="1"/>
          <p:nvPr/>
        </p:nvSpPr>
        <p:spPr>
          <a:xfrm>
            <a:off x="7188200" y="24511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회원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결제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환불 한 화면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A521547-1850-E43C-981E-A18E0F5C31BC}"/>
              </a:ext>
            </a:extLst>
          </p:cNvPr>
          <p:cNvSpPr/>
          <p:nvPr/>
        </p:nvSpPr>
        <p:spPr>
          <a:xfrm>
            <a:off x="11023600" y="22098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B21AA2-9DFB-9ADA-1C5E-76341CE05CA0}"/>
              </a:ext>
            </a:extLst>
          </p:cNvPr>
          <p:cNvSpPr txBox="1"/>
          <p:nvPr/>
        </p:nvSpPr>
        <p:spPr>
          <a:xfrm>
            <a:off x="11023600" y="22740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CFA144C-CFDE-19A6-EBEC-37479442FC0C}"/>
              </a:ext>
            </a:extLst>
          </p:cNvPr>
          <p:cNvSpPr/>
          <p:nvPr/>
        </p:nvSpPr>
        <p:spPr>
          <a:xfrm>
            <a:off x="609600" y="27940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33B7557-0DCB-8261-25B0-88AC03426BC5}"/>
              </a:ext>
            </a:extLst>
          </p:cNvPr>
          <p:cNvSpPr/>
          <p:nvPr/>
        </p:nvSpPr>
        <p:spPr>
          <a:xfrm>
            <a:off x="762000" y="29464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853843-0E5B-883C-9A51-F53C9B54EBC2}"/>
              </a:ext>
            </a:extLst>
          </p:cNvPr>
          <p:cNvSpPr txBox="1"/>
          <p:nvPr/>
        </p:nvSpPr>
        <p:spPr>
          <a:xfrm>
            <a:off x="762000" y="30041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F-05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7DB694-DB3A-83D5-E3BF-99D246DF88FE}"/>
              </a:ext>
            </a:extLst>
          </p:cNvPr>
          <p:cNvSpPr txBox="1"/>
          <p:nvPr/>
        </p:nvSpPr>
        <p:spPr>
          <a:xfrm>
            <a:off x="1524000" y="28829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환불 처리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12DCAF-9526-9F02-FBAD-43D3CD50D193}"/>
              </a:ext>
            </a:extLst>
          </p:cNvPr>
          <p:cNvSpPr txBox="1"/>
          <p:nvPr/>
        </p:nvSpPr>
        <p:spPr>
          <a:xfrm>
            <a:off x="1524000" y="31369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회원 어디서든 환불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84A830E-ACBC-16A1-68D0-DEA4292C7BED}"/>
              </a:ext>
            </a:extLst>
          </p:cNvPr>
          <p:cNvSpPr/>
          <p:nvPr/>
        </p:nvSpPr>
        <p:spPr>
          <a:xfrm>
            <a:off x="5359400" y="28956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C644BF-8D17-5432-5C61-74D2D33186BD}"/>
              </a:ext>
            </a:extLst>
          </p:cNvPr>
          <p:cNvSpPr txBox="1"/>
          <p:nvPr/>
        </p:nvSpPr>
        <p:spPr>
          <a:xfrm>
            <a:off x="5359400" y="29598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746CD4D-8D38-8728-D42B-7F0D24C9BB14}"/>
              </a:ext>
            </a:extLst>
          </p:cNvPr>
          <p:cNvSpPr/>
          <p:nvPr/>
        </p:nvSpPr>
        <p:spPr>
          <a:xfrm>
            <a:off x="6273800" y="27940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89B0D5B-07A9-AB49-C483-EFEF3FBE199C}"/>
              </a:ext>
            </a:extLst>
          </p:cNvPr>
          <p:cNvSpPr/>
          <p:nvPr/>
        </p:nvSpPr>
        <p:spPr>
          <a:xfrm>
            <a:off x="6426200" y="29464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E00326-D579-BCAD-B3CD-C3F2089EE014}"/>
              </a:ext>
            </a:extLst>
          </p:cNvPr>
          <p:cNvSpPr txBox="1"/>
          <p:nvPr/>
        </p:nvSpPr>
        <p:spPr>
          <a:xfrm>
            <a:off x="6426200" y="30041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F-06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8CA4DA-84B3-A720-3516-953BA88DF4C3}"/>
              </a:ext>
            </a:extLst>
          </p:cNvPr>
          <p:cNvSpPr txBox="1"/>
          <p:nvPr/>
        </p:nvSpPr>
        <p:spPr>
          <a:xfrm>
            <a:off x="7188200" y="28829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 목록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6B166-F035-0B03-9B5A-902A84BE0E92}"/>
              </a:ext>
            </a:extLst>
          </p:cNvPr>
          <p:cNvSpPr txBox="1"/>
          <p:nvPr/>
        </p:nvSpPr>
        <p:spPr>
          <a:xfrm>
            <a:off x="7188200" y="31369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날짜 검색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005BBC3-3011-9AFC-6DD5-C10A6FBD4445}"/>
              </a:ext>
            </a:extLst>
          </p:cNvPr>
          <p:cNvSpPr/>
          <p:nvPr/>
        </p:nvSpPr>
        <p:spPr>
          <a:xfrm>
            <a:off x="11023600" y="28956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4BEF2A-BCA7-B274-7620-F65E23D58284}"/>
              </a:ext>
            </a:extLst>
          </p:cNvPr>
          <p:cNvSpPr txBox="1"/>
          <p:nvPr/>
        </p:nvSpPr>
        <p:spPr>
          <a:xfrm>
            <a:off x="11023600" y="29598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D793C82-02D4-855F-C995-49A25ACB6010}"/>
              </a:ext>
            </a:extLst>
          </p:cNvPr>
          <p:cNvSpPr/>
          <p:nvPr/>
        </p:nvSpPr>
        <p:spPr>
          <a:xfrm>
            <a:off x="609600" y="34798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51DC4A8-3616-74FF-ED82-8C2D83CE7C98}"/>
              </a:ext>
            </a:extLst>
          </p:cNvPr>
          <p:cNvSpPr/>
          <p:nvPr/>
        </p:nvSpPr>
        <p:spPr>
          <a:xfrm>
            <a:off x="762000" y="36322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280B04-5B06-A473-C34C-CE922E128AC6}"/>
              </a:ext>
            </a:extLst>
          </p:cNvPr>
          <p:cNvSpPr txBox="1"/>
          <p:nvPr/>
        </p:nvSpPr>
        <p:spPr>
          <a:xfrm>
            <a:off x="762000" y="36899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F-07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2E31C-C54A-0266-33D2-E6B9003F2295}"/>
              </a:ext>
            </a:extLst>
          </p:cNvPr>
          <p:cNvSpPr txBox="1"/>
          <p:nvPr/>
        </p:nvSpPr>
        <p:spPr>
          <a:xfrm>
            <a:off x="1524000" y="35687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 상세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3B9C43-736B-C18D-70BF-AD26B9441EC4}"/>
              </a:ext>
            </a:extLst>
          </p:cNvPr>
          <p:cNvSpPr txBox="1"/>
          <p:nvPr/>
        </p:nvSpPr>
        <p:spPr>
          <a:xfrm>
            <a:off x="1524000" y="38227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저장본 렌더링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9266CB2-6C07-A1B0-EAE1-83FFD5A7DCA0}"/>
              </a:ext>
            </a:extLst>
          </p:cNvPr>
          <p:cNvSpPr/>
          <p:nvPr/>
        </p:nvSpPr>
        <p:spPr>
          <a:xfrm>
            <a:off x="5359400" y="35814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4B337A-84B5-1DEE-A3AB-20EC8491CD2F}"/>
              </a:ext>
            </a:extLst>
          </p:cNvPr>
          <p:cNvSpPr txBox="1"/>
          <p:nvPr/>
        </p:nvSpPr>
        <p:spPr>
          <a:xfrm>
            <a:off x="5359400" y="36456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B9222C7-8F48-2A7C-F472-BADA070FB415}"/>
              </a:ext>
            </a:extLst>
          </p:cNvPr>
          <p:cNvSpPr/>
          <p:nvPr/>
        </p:nvSpPr>
        <p:spPr>
          <a:xfrm>
            <a:off x="6273800" y="34798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9EC2568-60F8-4CC2-597B-F13C1DF4ADE5}"/>
              </a:ext>
            </a:extLst>
          </p:cNvPr>
          <p:cNvSpPr/>
          <p:nvPr/>
        </p:nvSpPr>
        <p:spPr>
          <a:xfrm>
            <a:off x="6426200" y="36322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221EBF-3027-3B59-FC07-57ACD4186E3C}"/>
              </a:ext>
            </a:extLst>
          </p:cNvPr>
          <p:cNvSpPr txBox="1"/>
          <p:nvPr/>
        </p:nvSpPr>
        <p:spPr>
          <a:xfrm>
            <a:off x="6426200" y="36899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F-08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5CF02E-1493-8F58-8AC2-D0F682F0A5A6}"/>
              </a:ext>
            </a:extLst>
          </p:cNvPr>
          <p:cNvSpPr txBox="1"/>
          <p:nvPr/>
        </p:nvSpPr>
        <p:spPr>
          <a:xfrm>
            <a:off x="7188200" y="35687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 재발급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97481A-0497-74DD-1359-EB06FBD963EF}"/>
              </a:ext>
            </a:extLst>
          </p:cNvPr>
          <p:cNvSpPr txBox="1"/>
          <p:nvPr/>
        </p:nvSpPr>
        <p:spPr>
          <a:xfrm>
            <a:off x="7188200" y="38227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고객에게 재발송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A97033A-EA8B-24D5-706A-63E1FFE7C31B}"/>
              </a:ext>
            </a:extLst>
          </p:cNvPr>
          <p:cNvSpPr/>
          <p:nvPr/>
        </p:nvSpPr>
        <p:spPr>
          <a:xfrm>
            <a:off x="11023600" y="35814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13B76-986C-52D8-EA6A-FC13044F1D50}"/>
              </a:ext>
            </a:extLst>
          </p:cNvPr>
          <p:cNvSpPr txBox="1"/>
          <p:nvPr/>
        </p:nvSpPr>
        <p:spPr>
          <a:xfrm>
            <a:off x="11023600" y="36456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03CDAB9-6B70-F538-43A5-C2BA83FEE480}"/>
              </a:ext>
            </a:extLst>
          </p:cNvPr>
          <p:cNvSpPr/>
          <p:nvPr/>
        </p:nvSpPr>
        <p:spPr>
          <a:xfrm>
            <a:off x="609600" y="41656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A9E35A7-0C2F-27DB-EBD9-D2C4371A137F}"/>
              </a:ext>
            </a:extLst>
          </p:cNvPr>
          <p:cNvSpPr/>
          <p:nvPr/>
        </p:nvSpPr>
        <p:spPr>
          <a:xfrm>
            <a:off x="762000" y="43180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40921A-259E-FAEA-CCF0-43E8B223CF33}"/>
              </a:ext>
            </a:extLst>
          </p:cNvPr>
          <p:cNvSpPr txBox="1"/>
          <p:nvPr/>
        </p:nvSpPr>
        <p:spPr>
          <a:xfrm>
            <a:off x="762000" y="43757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F-13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92B54C-45A9-2300-DA96-CDA87DE8B8B9}"/>
              </a:ext>
            </a:extLst>
          </p:cNvPr>
          <p:cNvSpPr txBox="1"/>
          <p:nvPr/>
        </p:nvSpPr>
        <p:spPr>
          <a:xfrm>
            <a:off x="1524000" y="42545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회원 목록 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D9748B-125E-0051-E645-BC3534F21E4E}"/>
              </a:ext>
            </a:extLst>
          </p:cNvPr>
          <p:cNvSpPr txBox="1"/>
          <p:nvPr/>
        </p:nvSpPr>
        <p:spPr>
          <a:xfrm>
            <a:off x="1524000" y="45085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가입일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연락처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구매횟수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18D1E07-89ED-B92F-65DE-6042A905C2DE}"/>
              </a:ext>
            </a:extLst>
          </p:cNvPr>
          <p:cNvSpPr/>
          <p:nvPr/>
        </p:nvSpPr>
        <p:spPr>
          <a:xfrm>
            <a:off x="5359400" y="42672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A3B569-3C8D-036D-96BC-41625B2705E6}"/>
              </a:ext>
            </a:extLst>
          </p:cNvPr>
          <p:cNvSpPr txBox="1"/>
          <p:nvPr/>
        </p:nvSpPr>
        <p:spPr>
          <a:xfrm>
            <a:off x="5359400" y="43314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240259A-E497-F6EB-13FD-5B6D2E0B961C}"/>
              </a:ext>
            </a:extLst>
          </p:cNvPr>
          <p:cNvSpPr/>
          <p:nvPr/>
        </p:nvSpPr>
        <p:spPr>
          <a:xfrm>
            <a:off x="6273800" y="41656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E5DA1AE5-653E-A9EC-934D-A58C32B25654}"/>
              </a:ext>
            </a:extLst>
          </p:cNvPr>
          <p:cNvSpPr/>
          <p:nvPr/>
        </p:nvSpPr>
        <p:spPr>
          <a:xfrm>
            <a:off x="6426200" y="43180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2890EE-34DD-6882-AA9A-C6C5C290CA2A}"/>
              </a:ext>
            </a:extLst>
          </p:cNvPr>
          <p:cNvSpPr txBox="1"/>
          <p:nvPr/>
        </p:nvSpPr>
        <p:spPr>
          <a:xfrm>
            <a:off x="6426200" y="43757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F-14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7092620-56E4-C805-7E75-71EF579BEE59}"/>
              </a:ext>
            </a:extLst>
          </p:cNvPr>
          <p:cNvSpPr txBox="1"/>
          <p:nvPr/>
        </p:nvSpPr>
        <p:spPr>
          <a:xfrm>
            <a:off x="7188200" y="42545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회원 상세 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EF7A8B-1533-283C-852B-83F894B3DF87}"/>
              </a:ext>
            </a:extLst>
          </p:cNvPr>
          <p:cNvSpPr txBox="1"/>
          <p:nvPr/>
        </p:nvSpPr>
        <p:spPr>
          <a:xfrm>
            <a:off x="7188200" y="45085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구매이력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A2D2F7D-22AD-BAEB-15F5-B2B4EF7406CA}"/>
              </a:ext>
            </a:extLst>
          </p:cNvPr>
          <p:cNvSpPr/>
          <p:nvPr/>
        </p:nvSpPr>
        <p:spPr>
          <a:xfrm>
            <a:off x="11023600" y="42672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9351A5-0FBB-186A-E111-CE10ADA122DE}"/>
              </a:ext>
            </a:extLst>
          </p:cNvPr>
          <p:cNvSpPr txBox="1"/>
          <p:nvPr/>
        </p:nvSpPr>
        <p:spPr>
          <a:xfrm>
            <a:off x="11023600" y="43314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101BE882-A686-7E26-E3F2-FE2754C7CE30}"/>
              </a:ext>
            </a:extLst>
          </p:cNvPr>
          <p:cNvSpPr/>
          <p:nvPr/>
        </p:nvSpPr>
        <p:spPr>
          <a:xfrm>
            <a:off x="609600" y="48514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9363133-6379-210C-FF4D-4870781F7ADB}"/>
              </a:ext>
            </a:extLst>
          </p:cNvPr>
          <p:cNvSpPr/>
          <p:nvPr/>
        </p:nvSpPr>
        <p:spPr>
          <a:xfrm>
            <a:off x="762000" y="50038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4D1CCA1-BA27-3B07-D0DF-037588ADBFDF}"/>
              </a:ext>
            </a:extLst>
          </p:cNvPr>
          <p:cNvSpPr txBox="1"/>
          <p:nvPr/>
        </p:nvSpPr>
        <p:spPr>
          <a:xfrm>
            <a:off x="762000" y="50615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F-09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485E21-8F9C-3D80-3B33-A13A1F0C0BDF}"/>
              </a:ext>
            </a:extLst>
          </p:cNvPr>
          <p:cNvSpPr txBox="1"/>
          <p:nvPr/>
        </p:nvSpPr>
        <p:spPr>
          <a:xfrm>
            <a:off x="1524000" y="49403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전환율 퍼널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A0296F-4AA7-D655-AF6E-56A316E2F938}"/>
              </a:ext>
            </a:extLst>
          </p:cNvPr>
          <p:cNvSpPr txBox="1"/>
          <p:nvPr/>
        </p:nvSpPr>
        <p:spPr>
          <a:xfrm>
            <a:off x="1524000" y="51943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셀프→프리미엄 전환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E42463E8-45FB-55F0-AAAF-82E034A06E89}"/>
              </a:ext>
            </a:extLst>
          </p:cNvPr>
          <p:cNvSpPr/>
          <p:nvPr/>
        </p:nvSpPr>
        <p:spPr>
          <a:xfrm>
            <a:off x="5359400" y="4953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3F1CAD-E7DA-79AB-4C3B-870D24EDA4DF}"/>
              </a:ext>
            </a:extLst>
          </p:cNvPr>
          <p:cNvSpPr txBox="1"/>
          <p:nvPr/>
        </p:nvSpPr>
        <p:spPr>
          <a:xfrm>
            <a:off x="5359400" y="5017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3EA9D33-249B-ADB5-E694-4CF6A37F1191}"/>
              </a:ext>
            </a:extLst>
          </p:cNvPr>
          <p:cNvSpPr/>
          <p:nvPr/>
        </p:nvSpPr>
        <p:spPr>
          <a:xfrm>
            <a:off x="6273800" y="48514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F53F50D-6F70-876D-5F68-10BC15B04432}"/>
              </a:ext>
            </a:extLst>
          </p:cNvPr>
          <p:cNvSpPr/>
          <p:nvPr/>
        </p:nvSpPr>
        <p:spPr>
          <a:xfrm>
            <a:off x="6426200" y="50038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7A08A5-7787-D101-CEF1-D69518609005}"/>
              </a:ext>
            </a:extLst>
          </p:cNvPr>
          <p:cNvSpPr txBox="1"/>
          <p:nvPr/>
        </p:nvSpPr>
        <p:spPr>
          <a:xfrm>
            <a:off x="6426200" y="50615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F-10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C33E13-3C8E-16E6-89BB-DBCBE6E4299B}"/>
              </a:ext>
            </a:extLst>
          </p:cNvPr>
          <p:cNvSpPr txBox="1"/>
          <p:nvPr/>
        </p:nvSpPr>
        <p:spPr>
          <a:xfrm>
            <a:off x="7188200" y="49403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비용 모니터링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ED9224-F713-D6F4-3433-B619C6977B29}"/>
              </a:ext>
            </a:extLst>
          </p:cNvPr>
          <p:cNvSpPr txBox="1"/>
          <p:nvPr/>
        </p:nvSpPr>
        <p:spPr>
          <a:xfrm>
            <a:off x="7188200" y="51943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Claude/Gemini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토큰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비용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71EE9FE9-E0DC-40A0-568E-0D616AF0C351}"/>
              </a:ext>
            </a:extLst>
          </p:cNvPr>
          <p:cNvSpPr/>
          <p:nvPr/>
        </p:nvSpPr>
        <p:spPr>
          <a:xfrm>
            <a:off x="11023600" y="4953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093A37-5EEA-BF87-F300-D743C6D45EDC}"/>
              </a:ext>
            </a:extLst>
          </p:cNvPr>
          <p:cNvSpPr txBox="1"/>
          <p:nvPr/>
        </p:nvSpPr>
        <p:spPr>
          <a:xfrm>
            <a:off x="11023600" y="5017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EF8FA1-5A14-66FC-B63A-294422ABC64A}"/>
              </a:ext>
            </a:extLst>
          </p:cNvPr>
          <p:cNvSpPr/>
          <p:nvPr/>
        </p:nvSpPr>
        <p:spPr>
          <a:xfrm>
            <a:off x="609600" y="55372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4D95C3B-FF6E-F702-08DD-FAF9B7C0046D}"/>
              </a:ext>
            </a:extLst>
          </p:cNvPr>
          <p:cNvSpPr/>
          <p:nvPr/>
        </p:nvSpPr>
        <p:spPr>
          <a:xfrm>
            <a:off x="762000" y="56896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5EC335-BA76-CC94-1AAD-039D9D6DDDBC}"/>
              </a:ext>
            </a:extLst>
          </p:cNvPr>
          <p:cNvSpPr txBox="1"/>
          <p:nvPr/>
        </p:nvSpPr>
        <p:spPr>
          <a:xfrm>
            <a:off x="762000" y="57473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F-11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69C654-D46B-86B8-B3D6-E7FB920D29F3}"/>
              </a:ext>
            </a:extLst>
          </p:cNvPr>
          <p:cNvSpPr txBox="1"/>
          <p:nvPr/>
        </p:nvSpPr>
        <p:spPr>
          <a:xfrm>
            <a:off x="1524000" y="56261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매출 추이 차트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ACFAAAD-FBFC-8FA4-1FCC-19EADE5AD9FB}"/>
              </a:ext>
            </a:extLst>
          </p:cNvPr>
          <p:cNvSpPr txBox="1"/>
          <p:nvPr/>
        </p:nvSpPr>
        <p:spPr>
          <a:xfrm>
            <a:off x="1524000" y="58801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월 매출 그래프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44623EB7-5535-7ACE-6657-1A6A8D1C3046}"/>
              </a:ext>
            </a:extLst>
          </p:cNvPr>
          <p:cNvSpPr/>
          <p:nvPr/>
        </p:nvSpPr>
        <p:spPr>
          <a:xfrm>
            <a:off x="5359400" y="56388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D2EB96D-827F-6B95-3D56-27E4AFDFACBB}"/>
              </a:ext>
            </a:extLst>
          </p:cNvPr>
          <p:cNvSpPr txBox="1"/>
          <p:nvPr/>
        </p:nvSpPr>
        <p:spPr>
          <a:xfrm>
            <a:off x="5359400" y="57030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42E7B99-0905-793C-61C5-955F6D59824B}"/>
              </a:ext>
            </a:extLst>
          </p:cNvPr>
          <p:cNvSpPr/>
          <p:nvPr/>
        </p:nvSpPr>
        <p:spPr>
          <a:xfrm>
            <a:off x="6273800" y="5537200"/>
            <a:ext cx="546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82C29706-095B-B316-0FDE-D74CB18E4DE7}"/>
              </a:ext>
            </a:extLst>
          </p:cNvPr>
          <p:cNvSpPr/>
          <p:nvPr/>
        </p:nvSpPr>
        <p:spPr>
          <a:xfrm>
            <a:off x="6426200" y="5689600"/>
            <a:ext cx="635000" cy="330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7AC0DB1-EFA3-6D2A-E0C3-CE1C4766B65A}"/>
              </a:ext>
            </a:extLst>
          </p:cNvPr>
          <p:cNvSpPr txBox="1"/>
          <p:nvPr/>
        </p:nvSpPr>
        <p:spPr>
          <a:xfrm>
            <a:off x="6426200" y="5747308"/>
            <a:ext cx="63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050" b="1">
                <a:solidFill>
                  <a:srgbClr val="1E2761"/>
                </a:solidFill>
                <a:latin typeface="맑은 고딕" panose="020B0503020000020004" pitchFamily="50" charset="-127"/>
              </a:rPr>
              <a:t>F-12</a:t>
            </a:r>
            <a:endParaRPr lang="ko-KR" altLang="en-US" sz="10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9F72923-BD87-8C28-34AF-325DEB988DF6}"/>
              </a:ext>
            </a:extLst>
          </p:cNvPr>
          <p:cNvSpPr txBox="1"/>
          <p:nvPr/>
        </p:nvSpPr>
        <p:spPr>
          <a:xfrm>
            <a:off x="7188200" y="5626100"/>
            <a:ext cx="292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콘텐츠</a:t>
            </a:r>
            <a:r>
              <a:rPr lang="en-US" altLang="ko-KR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설정 관리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EE6D463-11AE-1D99-B5D8-F037B033D341}"/>
              </a:ext>
            </a:extLst>
          </p:cNvPr>
          <p:cNvSpPr txBox="1"/>
          <p:nvPr/>
        </p:nvSpPr>
        <p:spPr>
          <a:xfrm>
            <a:off x="7188200" y="5880100"/>
            <a:ext cx="3175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한자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DB·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가격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점검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8BC0E57-CD71-190A-E03B-0A8F2378E641}"/>
              </a:ext>
            </a:extLst>
          </p:cNvPr>
          <p:cNvSpPr/>
          <p:nvPr/>
        </p:nvSpPr>
        <p:spPr>
          <a:xfrm>
            <a:off x="10947400" y="5638800"/>
            <a:ext cx="635000" cy="203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8F1969B-1838-BA4A-E823-8E47C21715C5}"/>
              </a:ext>
            </a:extLst>
          </p:cNvPr>
          <p:cNvSpPr txBox="1"/>
          <p:nvPr/>
        </p:nvSpPr>
        <p:spPr>
          <a:xfrm>
            <a:off x="10947400" y="5703044"/>
            <a:ext cx="635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</p:spTree>
    <p:extLst>
      <p:ext uri="{BB962C8B-B14F-4D97-AF65-F5344CB8AC3E}">
        <p14:creationId xmlns:p14="http://schemas.microsoft.com/office/powerpoint/2010/main" val="246567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C2F01D-C26F-26E4-16B1-17967024B5D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FF003-EE35-DEDB-EBFC-39BA553C16C7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4430E-9E6D-79F2-B6FE-7E4961B1E787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① 운영자 로그인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1A88C-F82A-BAEE-6A4D-20E3AB23DC9C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6D583-A687-F630-8542-8807B1E7B641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07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840FE-D36C-7D2E-86DA-C72F6ABA1B26}"/>
              </a:ext>
            </a:extLst>
          </p:cNvPr>
          <p:cNvSpPr txBox="1"/>
          <p:nvPr/>
        </p:nvSpPr>
        <p:spPr>
          <a:xfrm>
            <a:off x="558800" y="14732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FC02A-6C8E-85B9-1DE4-882AD20A609F}"/>
              </a:ext>
            </a:extLst>
          </p:cNvPr>
          <p:cNvSpPr txBox="1"/>
          <p:nvPr/>
        </p:nvSpPr>
        <p:spPr>
          <a:xfrm>
            <a:off x="558800" y="16891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허용된 운영자만 어드민에 진입하도록 인증한다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EA4CE-80F4-C08C-F49F-6E754D2591A2}"/>
              </a:ext>
            </a:extLst>
          </p:cNvPr>
          <p:cNvSpPr txBox="1"/>
          <p:nvPr/>
        </p:nvSpPr>
        <p:spPr>
          <a:xfrm>
            <a:off x="558800" y="25400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구성 요소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16583-1F12-5BF7-BE4A-103967E6252E}"/>
              </a:ext>
            </a:extLst>
          </p:cNvPr>
          <p:cNvSpPr txBox="1"/>
          <p:nvPr/>
        </p:nvSpPr>
        <p:spPr>
          <a:xfrm>
            <a:off x="558800" y="27559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서비스 로고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이메일 로그인 버튼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접근 안내 문구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1A6EB-7C51-24A3-8DCF-B9EE868EC771}"/>
              </a:ext>
            </a:extLst>
          </p:cNvPr>
          <p:cNvSpPr txBox="1"/>
          <p:nvPr/>
        </p:nvSpPr>
        <p:spPr>
          <a:xfrm>
            <a:off x="558800" y="36068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주요 동작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B8B78-2E52-56C6-1903-F89038A2ED49}"/>
              </a:ext>
            </a:extLst>
          </p:cNvPr>
          <p:cNvSpPr txBox="1"/>
          <p:nvPr/>
        </p:nvSpPr>
        <p:spPr>
          <a:xfrm>
            <a:off x="558800" y="38227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성공 → 대시보드 이동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허용목록 외 → 접근 거부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FE1EE-7187-383C-E79D-6829C380A7CB}"/>
              </a:ext>
            </a:extLst>
          </p:cNvPr>
          <p:cNvSpPr txBox="1"/>
          <p:nvPr/>
        </p:nvSpPr>
        <p:spPr>
          <a:xfrm>
            <a:off x="558800" y="46736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예외 처리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725049-2000-D36F-43E7-215DBD9488D8}"/>
              </a:ext>
            </a:extLst>
          </p:cNvPr>
          <p:cNvSpPr txBox="1"/>
          <p:nvPr/>
        </p:nvSpPr>
        <p:spPr>
          <a:xfrm>
            <a:off x="558800" y="48895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미인증 상태로 내부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직접 접근 시 로그인으로 강제 이동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AB03EB4-06D4-6D0F-4723-59104F2255E9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0C5893-E7F0-9ACB-D510-F4A587199685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54A5A4-B791-07FE-37A9-BC061F68F06F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196D07-7E2F-81A8-97F9-533DB48AB3E4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427D59-08EF-DB74-2939-54E9F2BF10DA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F589AB-01E7-861C-7000-AFD34004EA8E}"/>
              </a:ext>
            </a:extLst>
          </p:cNvPr>
          <p:cNvSpPr/>
          <p:nvPr/>
        </p:nvSpPr>
        <p:spPr>
          <a:xfrm>
            <a:off x="4724400" y="1701800"/>
            <a:ext cx="6858000" cy="4622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E3F479A-7980-6632-C68D-78C51AED8F91}"/>
              </a:ext>
            </a:extLst>
          </p:cNvPr>
          <p:cNvSpPr/>
          <p:nvPr/>
        </p:nvSpPr>
        <p:spPr>
          <a:xfrm>
            <a:off x="6629400" y="2540000"/>
            <a:ext cx="3048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8BEDAE-D472-DD29-7FF2-E5BC0658B5A7}"/>
              </a:ext>
            </a:extLst>
          </p:cNvPr>
          <p:cNvSpPr/>
          <p:nvPr/>
        </p:nvSpPr>
        <p:spPr>
          <a:xfrm>
            <a:off x="7772400" y="2870200"/>
            <a:ext cx="762000" cy="762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D7A6B-862D-8BC4-8891-EAC4016205C4}"/>
              </a:ext>
            </a:extLst>
          </p:cNvPr>
          <p:cNvSpPr txBox="1"/>
          <p:nvPr/>
        </p:nvSpPr>
        <p:spPr>
          <a:xfrm>
            <a:off x="7772400" y="2793256"/>
            <a:ext cx="76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rgbClr val="FFFFFF"/>
                </a:solidFill>
                <a:latin typeface="맑은 고딕" panose="020B0503020000020004" pitchFamily="50" charset="-127"/>
              </a:rPr>
              <a:t>D</a:t>
            </a:r>
            <a:endParaRPr lang="ko-KR" altLang="en-US" sz="2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455CE-D500-624C-1DDB-939E2E880312}"/>
              </a:ext>
            </a:extLst>
          </p:cNvPr>
          <p:cNvSpPr txBox="1"/>
          <p:nvPr/>
        </p:nvSpPr>
        <p:spPr>
          <a:xfrm>
            <a:off x="6629400" y="3746872"/>
            <a:ext cx="3048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DearName ADMIN</a:t>
            </a:r>
            <a:endParaRPr lang="ko-KR" altLang="en-US" sz="13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2C3B05-7BDE-E0CA-E193-740AED84A733}"/>
              </a:ext>
            </a:extLst>
          </p:cNvPr>
          <p:cNvSpPr txBox="1"/>
          <p:nvPr/>
        </p:nvSpPr>
        <p:spPr>
          <a:xfrm>
            <a:off x="6629400" y="4049355"/>
            <a:ext cx="3048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운영자 로그인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9C189A0-E78D-1260-1B41-ADC5F33004FE}"/>
              </a:ext>
            </a:extLst>
          </p:cNvPr>
          <p:cNvSpPr/>
          <p:nvPr/>
        </p:nvSpPr>
        <p:spPr>
          <a:xfrm>
            <a:off x="7010400" y="4318000"/>
            <a:ext cx="2286000" cy="4318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34B5C-10CB-F269-4918-24B6358054BB}"/>
              </a:ext>
            </a:extLst>
          </p:cNvPr>
          <p:cNvSpPr txBox="1"/>
          <p:nvPr/>
        </p:nvSpPr>
        <p:spPr>
          <a:xfrm>
            <a:off x="7010400" y="4371861"/>
            <a:ext cx="2286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이메일로 로그인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2C74D2-BA34-9605-1F31-4AE33EFCB717}"/>
              </a:ext>
            </a:extLst>
          </p:cNvPr>
          <p:cNvSpPr txBox="1"/>
          <p:nvPr/>
        </p:nvSpPr>
        <p:spPr>
          <a:xfrm>
            <a:off x="6629400" y="4899097"/>
            <a:ext cx="3048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허용된 운영자만 접근할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193406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A1141F-CA57-0815-DF05-C31DB7FB4E7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334C9-8478-8F62-7F21-093B880A0FE0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57367-CED2-45C6-5F97-F9C2F5E18E8C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② 대시보드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매출 현황 시각화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70113-2AEA-CE88-1C45-092180D4B410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10F64-E0E8-4941-506B-FF2EE34F195D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08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04EC7-1929-BFB5-0795-794C7E1F5343}"/>
              </a:ext>
            </a:extLst>
          </p:cNvPr>
          <p:cNvSpPr txBox="1"/>
          <p:nvPr/>
        </p:nvSpPr>
        <p:spPr>
          <a:xfrm>
            <a:off x="558800" y="14478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FB013-7492-9D52-885A-4BE36CC4559E}"/>
              </a:ext>
            </a:extLst>
          </p:cNvPr>
          <p:cNvSpPr txBox="1"/>
          <p:nvPr/>
        </p:nvSpPr>
        <p:spPr>
          <a:xfrm>
            <a:off x="558800" y="1663700"/>
            <a:ext cx="3810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전체 서비스 현황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을 한눈에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추이를 그래프로 본다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83EE6-8631-663F-EE6A-A93A13196567}"/>
              </a:ext>
            </a:extLst>
          </p:cNvPr>
          <p:cNvSpPr txBox="1"/>
          <p:nvPr/>
        </p:nvSpPr>
        <p:spPr>
          <a:xfrm>
            <a:off x="558800" y="23876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구간 전환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29FB8-C60E-16C1-3A1C-28CAB89923B3}"/>
              </a:ext>
            </a:extLst>
          </p:cNvPr>
          <p:cNvSpPr txBox="1"/>
          <p:nvPr/>
        </p:nvSpPr>
        <p:spPr>
          <a:xfrm>
            <a:off x="558800" y="26035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연 세그먼트 → 카드 금액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그래프가 함께 바뀜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E3AE9-D033-F3D3-2500-112CA2395CC0}"/>
              </a:ext>
            </a:extLst>
          </p:cNvPr>
          <p:cNvSpPr txBox="1"/>
          <p:nvPr/>
        </p:nvSpPr>
        <p:spPr>
          <a:xfrm>
            <a:off x="558800" y="33274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지표</a:t>
            </a:r>
            <a:r>
              <a:rPr lang="en-US" altLang="ko-KR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그래프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50D14-1822-2306-4C45-790B8C0783BB}"/>
              </a:ext>
            </a:extLst>
          </p:cNvPr>
          <p:cNvSpPr txBox="1"/>
          <p:nvPr/>
        </p:nvSpPr>
        <p:spPr>
          <a:xfrm>
            <a:off x="558800" y="35433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구간별 매출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객단가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환불액 금액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매출 추이 막대그래프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94592-EB75-8228-F553-22CCC4C1EF4C}"/>
              </a:ext>
            </a:extLst>
          </p:cNvPr>
          <p:cNvSpPr txBox="1"/>
          <p:nvPr/>
        </p:nvSpPr>
        <p:spPr>
          <a:xfrm>
            <a:off x="558800" y="42672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집계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F311C1-B865-2D73-D1F6-F0C4CB59858A}"/>
              </a:ext>
            </a:extLst>
          </p:cNvPr>
          <p:cNvSpPr txBox="1"/>
          <p:nvPr/>
        </p:nvSpPr>
        <p:spPr>
          <a:xfrm>
            <a:off x="558800" y="44831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orders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date_trunc(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연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로 그룹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합산해 산출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F670A4-F36A-CDC0-CCA6-DD2AFB5E809E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9197AE-4BFB-79E7-185B-D7442CE0FEF8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2A4440-7FD6-02C9-F6DE-A8683E292CAD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BF356B-9F8D-D36A-0822-3F707EBE5755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3D5116-B503-B5AB-F346-1FE894CC24A0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79F5AE-B765-EF7B-FC7F-C249AEE262ED}"/>
              </a:ext>
            </a:extLst>
          </p:cNvPr>
          <p:cNvSpPr txBox="1"/>
          <p:nvPr/>
        </p:nvSpPr>
        <p:spPr>
          <a:xfrm>
            <a:off x="5511800" y="1512044"/>
            <a:ext cx="584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dearname-admin.vercel.app</a:t>
            </a:r>
            <a:endParaRPr lang="ko-KR" altLang="en-US" sz="8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17330F-0172-8D48-9B52-F5097A790273}"/>
              </a:ext>
            </a:extLst>
          </p:cNvPr>
          <p:cNvSpPr/>
          <p:nvPr/>
        </p:nvSpPr>
        <p:spPr>
          <a:xfrm>
            <a:off x="4724400" y="1701800"/>
            <a:ext cx="1651000" cy="46228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3C6CCD-BE84-0DB7-207D-4D4B994E17FA}"/>
              </a:ext>
            </a:extLst>
          </p:cNvPr>
          <p:cNvSpPr txBox="1"/>
          <p:nvPr/>
        </p:nvSpPr>
        <p:spPr>
          <a:xfrm>
            <a:off x="4902200" y="1803400"/>
            <a:ext cx="1422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866164-F7E1-855C-2BEE-74131887E5E7}"/>
              </a:ext>
            </a:extLst>
          </p:cNvPr>
          <p:cNvSpPr txBox="1"/>
          <p:nvPr/>
        </p:nvSpPr>
        <p:spPr>
          <a:xfrm>
            <a:off x="4902200" y="2019300"/>
            <a:ext cx="1422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00" b="1">
                <a:solidFill>
                  <a:srgbClr val="CADCFC"/>
                </a:solidFill>
                <a:latin typeface="맑은 고딕" panose="020B0503020000020004" pitchFamily="50" charset="-127"/>
              </a:rPr>
              <a:t>ADMIN</a:t>
            </a:r>
            <a:endParaRPr lang="ko-KR" altLang="en-US" sz="8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C97E30C-859D-341B-B1BC-5377AE0AFEBD}"/>
              </a:ext>
            </a:extLst>
          </p:cNvPr>
          <p:cNvSpPr/>
          <p:nvPr/>
        </p:nvSpPr>
        <p:spPr>
          <a:xfrm>
            <a:off x="4826000" y="2311400"/>
            <a:ext cx="1447800" cy="3175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C0B1F-7E1F-B7EA-F602-8561BA10FA16}"/>
              </a:ext>
            </a:extLst>
          </p:cNvPr>
          <p:cNvSpPr txBox="1"/>
          <p:nvPr/>
        </p:nvSpPr>
        <p:spPr>
          <a:xfrm>
            <a:off x="4953000" y="2372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B3B456-B094-F2A4-BF50-EC98E636DE33}"/>
              </a:ext>
            </a:extLst>
          </p:cNvPr>
          <p:cNvSpPr txBox="1"/>
          <p:nvPr/>
        </p:nvSpPr>
        <p:spPr>
          <a:xfrm>
            <a:off x="4953000" y="2753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>
                <a:solidFill>
                  <a:srgbClr val="CADCF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490DD-A187-7B50-C496-02A251685B05}"/>
              </a:ext>
            </a:extLst>
          </p:cNvPr>
          <p:cNvSpPr txBox="1"/>
          <p:nvPr/>
        </p:nvSpPr>
        <p:spPr>
          <a:xfrm>
            <a:off x="4953000" y="3134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14BF00-D36E-6CF1-91FE-60F72172A5A4}"/>
              </a:ext>
            </a:extLst>
          </p:cNvPr>
          <p:cNvSpPr txBox="1"/>
          <p:nvPr/>
        </p:nvSpPr>
        <p:spPr>
          <a:xfrm>
            <a:off x="4953000" y="3515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0B3DA2-3BA7-31DC-BA5A-BF9901248462}"/>
              </a:ext>
            </a:extLst>
          </p:cNvPr>
          <p:cNvSpPr txBox="1"/>
          <p:nvPr/>
        </p:nvSpPr>
        <p:spPr>
          <a:xfrm>
            <a:off x="4953000" y="3896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6B79A8"/>
                </a:solidFill>
                <a:latin typeface="맑은 고딕" panose="020B0503020000020004" pitchFamily="50" charset="-127"/>
              </a:rPr>
              <a:t>설정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6A0DE0-8C9D-8118-6DD4-422D3B8ECD57}"/>
              </a:ext>
            </a:extLst>
          </p:cNvPr>
          <p:cNvSpPr txBox="1"/>
          <p:nvPr/>
        </p:nvSpPr>
        <p:spPr>
          <a:xfrm>
            <a:off x="6578600" y="1874966"/>
            <a:ext cx="203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200" b="1">
                <a:solidFill>
                  <a:srgbClr val="1A1A2E"/>
                </a:solidFill>
                <a:latin typeface="맑은 고딕" panose="020B0503020000020004" pitchFamily="50" charset="-127"/>
              </a:rPr>
              <a:t>매출 현황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D003B6-C9D3-874C-46F7-36F19D5C11FD}"/>
              </a:ext>
            </a:extLst>
          </p:cNvPr>
          <p:cNvSpPr/>
          <p:nvPr/>
        </p:nvSpPr>
        <p:spPr>
          <a:xfrm>
            <a:off x="9702800" y="1828800"/>
            <a:ext cx="5334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D7BE53-BF87-516B-E62B-C9334236F3DC}"/>
              </a:ext>
            </a:extLst>
          </p:cNvPr>
          <p:cNvSpPr txBox="1"/>
          <p:nvPr/>
        </p:nvSpPr>
        <p:spPr>
          <a:xfrm>
            <a:off x="9702800" y="1881502"/>
            <a:ext cx="5334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64748B"/>
                </a:solidFill>
                <a:latin typeface="맑은 고딕" panose="020B0503020000020004" pitchFamily="50" charset="-127"/>
              </a:rPr>
              <a:t>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EA16C20-880B-41DA-3B92-9E4CF673A695}"/>
              </a:ext>
            </a:extLst>
          </p:cNvPr>
          <p:cNvSpPr/>
          <p:nvPr/>
        </p:nvSpPr>
        <p:spPr>
          <a:xfrm>
            <a:off x="10261600" y="1828800"/>
            <a:ext cx="533400" cy="2794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1C4FC5-1DAE-791B-34BF-7A599BAA68DD}"/>
              </a:ext>
            </a:extLst>
          </p:cNvPr>
          <p:cNvSpPr txBox="1"/>
          <p:nvPr/>
        </p:nvSpPr>
        <p:spPr>
          <a:xfrm>
            <a:off x="10261600" y="1881502"/>
            <a:ext cx="5334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248032A-539E-2AB9-49E7-508BB9B1A59D}"/>
              </a:ext>
            </a:extLst>
          </p:cNvPr>
          <p:cNvSpPr/>
          <p:nvPr/>
        </p:nvSpPr>
        <p:spPr>
          <a:xfrm>
            <a:off x="10820400" y="1828800"/>
            <a:ext cx="5334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369A7F-B1E3-BF93-E2EF-2CF1DA05717C}"/>
              </a:ext>
            </a:extLst>
          </p:cNvPr>
          <p:cNvSpPr txBox="1"/>
          <p:nvPr/>
        </p:nvSpPr>
        <p:spPr>
          <a:xfrm>
            <a:off x="10820400" y="1881502"/>
            <a:ext cx="5334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64748B"/>
                </a:solidFill>
                <a:latin typeface="맑은 고딕" panose="020B0503020000020004" pitchFamily="50" charset="-127"/>
              </a:rPr>
              <a:t>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1C9C070-600F-2F44-6BFA-60525261653B}"/>
              </a:ext>
            </a:extLst>
          </p:cNvPr>
          <p:cNvSpPr/>
          <p:nvPr/>
        </p:nvSpPr>
        <p:spPr>
          <a:xfrm>
            <a:off x="6578600" y="2209800"/>
            <a:ext cx="1123950" cy="736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852231-82C6-F4E7-7DB8-B70DE6C0408B}"/>
              </a:ext>
            </a:extLst>
          </p:cNvPr>
          <p:cNvSpPr txBox="1"/>
          <p:nvPr/>
        </p:nvSpPr>
        <p:spPr>
          <a:xfrm>
            <a:off x="6667500" y="2298700"/>
            <a:ext cx="99695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이번달 매출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59410-AEDF-9C83-BB61-EB3EDDD5AB1C}"/>
              </a:ext>
            </a:extLst>
          </p:cNvPr>
          <p:cNvSpPr txBox="1"/>
          <p:nvPr/>
        </p:nvSpPr>
        <p:spPr>
          <a:xfrm>
            <a:off x="6667500" y="2489200"/>
            <a:ext cx="99695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₩ 1.24M</a:t>
            </a:r>
            <a:endParaRPr lang="ko-KR" altLang="en-US" sz="12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5358066-8661-0676-3E06-B7F252CF6542}"/>
              </a:ext>
            </a:extLst>
          </p:cNvPr>
          <p:cNvSpPr/>
          <p:nvPr/>
        </p:nvSpPr>
        <p:spPr>
          <a:xfrm>
            <a:off x="7804150" y="2209800"/>
            <a:ext cx="1123950" cy="736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CAC34-FF28-4486-FBBD-EBF0CF297F08}"/>
              </a:ext>
            </a:extLst>
          </p:cNvPr>
          <p:cNvSpPr txBox="1"/>
          <p:nvPr/>
        </p:nvSpPr>
        <p:spPr>
          <a:xfrm>
            <a:off x="7893050" y="2298700"/>
            <a:ext cx="99695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주문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3CEFAF-43D4-9B72-0A83-E624C1939DA3}"/>
              </a:ext>
            </a:extLst>
          </p:cNvPr>
          <p:cNvSpPr txBox="1"/>
          <p:nvPr/>
        </p:nvSpPr>
        <p:spPr>
          <a:xfrm>
            <a:off x="7893050" y="2489200"/>
            <a:ext cx="99695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42</a:t>
            </a:r>
            <a:r>
              <a:rPr lang="ko-KR" altLang="en-US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26B5A70-9596-A540-E225-4EC205EB0165}"/>
              </a:ext>
            </a:extLst>
          </p:cNvPr>
          <p:cNvSpPr/>
          <p:nvPr/>
        </p:nvSpPr>
        <p:spPr>
          <a:xfrm>
            <a:off x="9029700" y="2209800"/>
            <a:ext cx="1123950" cy="736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1B4450-59A6-2804-D607-58ED7D360905}"/>
              </a:ext>
            </a:extLst>
          </p:cNvPr>
          <p:cNvSpPr txBox="1"/>
          <p:nvPr/>
        </p:nvSpPr>
        <p:spPr>
          <a:xfrm>
            <a:off x="9118600" y="2298700"/>
            <a:ext cx="99695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객단가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86F0F9-7B67-383D-0269-71A5271A5B37}"/>
              </a:ext>
            </a:extLst>
          </p:cNvPr>
          <p:cNvSpPr txBox="1"/>
          <p:nvPr/>
        </p:nvSpPr>
        <p:spPr>
          <a:xfrm>
            <a:off x="9118600" y="2489200"/>
            <a:ext cx="99695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29,500</a:t>
            </a:r>
            <a:endParaRPr lang="ko-KR" altLang="en-US" sz="12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5DEAADB-78A1-2BFB-AB9F-20806E92D94B}"/>
              </a:ext>
            </a:extLst>
          </p:cNvPr>
          <p:cNvSpPr/>
          <p:nvPr/>
        </p:nvSpPr>
        <p:spPr>
          <a:xfrm>
            <a:off x="10255250" y="2209800"/>
            <a:ext cx="1123950" cy="736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6E76D4-CB3A-51BE-83DF-598672C590D9}"/>
              </a:ext>
            </a:extLst>
          </p:cNvPr>
          <p:cNvSpPr txBox="1"/>
          <p:nvPr/>
        </p:nvSpPr>
        <p:spPr>
          <a:xfrm>
            <a:off x="10344150" y="2298700"/>
            <a:ext cx="99695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환불액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D5FA55-AFEA-8404-A162-ED18B955A750}"/>
              </a:ext>
            </a:extLst>
          </p:cNvPr>
          <p:cNvSpPr txBox="1"/>
          <p:nvPr/>
        </p:nvSpPr>
        <p:spPr>
          <a:xfrm>
            <a:off x="10344150" y="2489200"/>
            <a:ext cx="996950" cy="21800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50" b="1">
                <a:solidFill>
                  <a:srgbClr val="1E2761"/>
                </a:solidFill>
                <a:latin typeface="맑은 고딕" panose="020B0503020000020004" pitchFamily="50" charset="-127"/>
              </a:rPr>
              <a:t>₩29K</a:t>
            </a:r>
            <a:endParaRPr lang="ko-KR" altLang="en-US" sz="12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EB3B40-08F3-6C18-8A22-42E2073F2799}"/>
              </a:ext>
            </a:extLst>
          </p:cNvPr>
          <p:cNvSpPr txBox="1"/>
          <p:nvPr/>
        </p:nvSpPr>
        <p:spPr>
          <a:xfrm>
            <a:off x="6578600" y="3073400"/>
            <a:ext cx="2540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50" b="1">
                <a:solidFill>
                  <a:srgbClr val="1A1A2E"/>
                </a:solidFill>
                <a:latin typeface="맑은 고딕" panose="020B0503020000020004" pitchFamily="50" charset="-127"/>
              </a:rPr>
              <a:t>월별 매출 추이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5EB1B95-9AED-2C9A-1C01-900847D3B73E}"/>
              </a:ext>
            </a:extLst>
          </p:cNvPr>
          <p:cNvCxnSpPr/>
          <p:nvPr/>
        </p:nvCxnSpPr>
        <p:spPr>
          <a:xfrm>
            <a:off x="6680200" y="4775200"/>
            <a:ext cx="46228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F992003-6308-F371-A47C-590F5DC0A64F}"/>
              </a:ext>
            </a:extLst>
          </p:cNvPr>
          <p:cNvSpPr/>
          <p:nvPr/>
        </p:nvSpPr>
        <p:spPr>
          <a:xfrm>
            <a:off x="6680200" y="4191000"/>
            <a:ext cx="431800" cy="5842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CF4D9-9B0E-5CE1-6F2E-2839CBE44A4E}"/>
              </a:ext>
            </a:extLst>
          </p:cNvPr>
          <p:cNvSpPr txBox="1"/>
          <p:nvPr/>
        </p:nvSpPr>
        <p:spPr>
          <a:xfrm>
            <a:off x="662940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797B0D0-1B16-E17B-E08A-B481A78D92CB}"/>
              </a:ext>
            </a:extLst>
          </p:cNvPr>
          <p:cNvSpPr/>
          <p:nvPr/>
        </p:nvSpPr>
        <p:spPr>
          <a:xfrm>
            <a:off x="7477760" y="4038600"/>
            <a:ext cx="431800" cy="736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F76949-C478-7B7B-B316-05DC4EEB4F88}"/>
              </a:ext>
            </a:extLst>
          </p:cNvPr>
          <p:cNvSpPr txBox="1"/>
          <p:nvPr/>
        </p:nvSpPr>
        <p:spPr>
          <a:xfrm>
            <a:off x="742696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59BC64C-824F-7053-10F6-010A6BCFC4ED}"/>
              </a:ext>
            </a:extLst>
          </p:cNvPr>
          <p:cNvSpPr/>
          <p:nvPr/>
        </p:nvSpPr>
        <p:spPr>
          <a:xfrm>
            <a:off x="8275320" y="3860800"/>
            <a:ext cx="431800" cy="9144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D6681D-078D-4D79-B70B-15121F4B5B62}"/>
              </a:ext>
            </a:extLst>
          </p:cNvPr>
          <p:cNvSpPr txBox="1"/>
          <p:nvPr/>
        </p:nvSpPr>
        <p:spPr>
          <a:xfrm>
            <a:off x="822452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C276330-EC3C-3B6E-A11E-7588C779806A}"/>
              </a:ext>
            </a:extLst>
          </p:cNvPr>
          <p:cNvSpPr/>
          <p:nvPr/>
        </p:nvSpPr>
        <p:spPr>
          <a:xfrm>
            <a:off x="9072880" y="3530600"/>
            <a:ext cx="431800" cy="1244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7E6E0A-4ABD-0C09-DB3D-F013ABB6F3F4}"/>
              </a:ext>
            </a:extLst>
          </p:cNvPr>
          <p:cNvSpPr txBox="1"/>
          <p:nvPr/>
        </p:nvSpPr>
        <p:spPr>
          <a:xfrm>
            <a:off x="902208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5F0D829-9BD9-A487-034D-E08758AFB8CA}"/>
              </a:ext>
            </a:extLst>
          </p:cNvPr>
          <p:cNvSpPr/>
          <p:nvPr/>
        </p:nvSpPr>
        <p:spPr>
          <a:xfrm>
            <a:off x="9870440" y="3302000"/>
            <a:ext cx="431800" cy="14732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504D98-55A3-08F1-D445-A588F7C90174}"/>
              </a:ext>
            </a:extLst>
          </p:cNvPr>
          <p:cNvSpPr txBox="1"/>
          <p:nvPr/>
        </p:nvSpPr>
        <p:spPr>
          <a:xfrm>
            <a:off x="981964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597C36E-3F11-CE81-258F-5DADD7733D3F}"/>
              </a:ext>
            </a:extLst>
          </p:cNvPr>
          <p:cNvSpPr/>
          <p:nvPr/>
        </p:nvSpPr>
        <p:spPr>
          <a:xfrm>
            <a:off x="10668000" y="3149600"/>
            <a:ext cx="431800" cy="1625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164F41-62D4-FA2A-E893-43CE129F0CFD}"/>
              </a:ext>
            </a:extLst>
          </p:cNvPr>
          <p:cNvSpPr txBox="1"/>
          <p:nvPr/>
        </p:nvSpPr>
        <p:spPr>
          <a:xfrm>
            <a:off x="10617200" y="4800600"/>
            <a:ext cx="533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3AA9BA-67BD-F71E-3352-97538A6E7905}"/>
              </a:ext>
            </a:extLst>
          </p:cNvPr>
          <p:cNvSpPr txBox="1"/>
          <p:nvPr/>
        </p:nvSpPr>
        <p:spPr>
          <a:xfrm>
            <a:off x="9474200" y="3327400"/>
            <a:ext cx="1905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단위</a:t>
            </a:r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맑은 고딕" panose="020B0503020000020004" pitchFamily="50" charset="-127"/>
              </a:rPr>
              <a:t>백만원</a:t>
            </a:r>
          </a:p>
        </p:txBody>
      </p:sp>
    </p:spTree>
    <p:extLst>
      <p:ext uri="{BB962C8B-B14F-4D97-AF65-F5344CB8AC3E}">
        <p14:creationId xmlns:p14="http://schemas.microsoft.com/office/powerpoint/2010/main" val="194620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83B364-FFBC-B5FF-342B-5287636A3F3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B11AE-DC64-5ADD-6118-D40231822B7E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1D76E-6985-77EE-FD05-A43DE2A2A60F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③ 주문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결제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21109-8B2C-E247-2BC8-8B935B8BEF75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6C0DF-D258-DBB0-2D93-800D6082E367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09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43903-1ED3-60FF-042F-37675610CE73}"/>
              </a:ext>
            </a:extLst>
          </p:cNvPr>
          <p:cNvSpPr txBox="1"/>
          <p:nvPr/>
        </p:nvSpPr>
        <p:spPr>
          <a:xfrm>
            <a:off x="558800" y="14732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49C0B-6A67-9BFF-AA96-E04B8549E24C}"/>
              </a:ext>
            </a:extLst>
          </p:cNvPr>
          <p:cNvSpPr txBox="1"/>
          <p:nvPr/>
        </p:nvSpPr>
        <p:spPr>
          <a:xfrm>
            <a:off x="558800" y="16891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전체 결제 내역을 조회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필터한다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E59AC-D547-4F6B-44D9-3D6C0C63D9C6}"/>
              </a:ext>
            </a:extLst>
          </p:cNvPr>
          <p:cNvSpPr txBox="1"/>
          <p:nvPr/>
        </p:nvSpPr>
        <p:spPr>
          <a:xfrm>
            <a:off x="558800" y="24892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구성 요소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7B5B8-7F9F-F9F0-B035-1D00031A0D81}"/>
              </a:ext>
            </a:extLst>
          </p:cNvPr>
          <p:cNvSpPr txBox="1"/>
          <p:nvPr/>
        </p:nvSpPr>
        <p:spPr>
          <a:xfrm>
            <a:off x="558800" y="27051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상품 필터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검색창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주문 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페이지네이션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C7D03-9C3A-30F1-4D88-4AFBFD708E75}"/>
              </a:ext>
            </a:extLst>
          </p:cNvPr>
          <p:cNvSpPr txBox="1"/>
          <p:nvPr/>
        </p:nvSpPr>
        <p:spPr>
          <a:xfrm>
            <a:off x="558800" y="36830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테이블 컬럼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85618A-E565-5338-F8F0-45E2742E3AA9}"/>
              </a:ext>
            </a:extLst>
          </p:cNvPr>
          <p:cNvSpPr txBox="1"/>
          <p:nvPr/>
        </p:nvSpPr>
        <p:spPr>
          <a:xfrm>
            <a:off x="558800" y="38989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주문일시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상품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금액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상태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구매자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B8B969E-9E13-0732-A655-0A35DEBAB313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6B9E01-5164-632A-5D7B-C6F912B6A558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BD1FDE-52DD-B43A-1FCC-95185DFE2698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3CD62E-C2D1-EBDA-7C98-514B98B11FB7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B55AFD-0DCE-2FC2-6774-FC68A7AC4F0D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687904-5FA4-50D8-EA4E-3B5782F6AD90}"/>
              </a:ext>
            </a:extLst>
          </p:cNvPr>
          <p:cNvSpPr txBox="1"/>
          <p:nvPr/>
        </p:nvSpPr>
        <p:spPr>
          <a:xfrm>
            <a:off x="5511800" y="1512044"/>
            <a:ext cx="584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dearname-admin.vercel.app</a:t>
            </a:r>
            <a:endParaRPr lang="ko-KR" altLang="en-US" sz="8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21C3CB-2752-9BF5-2D7E-24E91F1A14CF}"/>
              </a:ext>
            </a:extLst>
          </p:cNvPr>
          <p:cNvSpPr/>
          <p:nvPr/>
        </p:nvSpPr>
        <p:spPr>
          <a:xfrm>
            <a:off x="4724400" y="1701800"/>
            <a:ext cx="1651000" cy="46228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4E41E0-3C5A-0186-4803-61E71C86236A}"/>
              </a:ext>
            </a:extLst>
          </p:cNvPr>
          <p:cNvSpPr txBox="1"/>
          <p:nvPr/>
        </p:nvSpPr>
        <p:spPr>
          <a:xfrm>
            <a:off x="4902200" y="1803400"/>
            <a:ext cx="1422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079C1-C287-A97F-1E0B-C225738BA01D}"/>
              </a:ext>
            </a:extLst>
          </p:cNvPr>
          <p:cNvSpPr txBox="1"/>
          <p:nvPr/>
        </p:nvSpPr>
        <p:spPr>
          <a:xfrm>
            <a:off x="4902200" y="2019300"/>
            <a:ext cx="1422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00" b="1">
                <a:solidFill>
                  <a:srgbClr val="CADCFC"/>
                </a:solidFill>
                <a:latin typeface="맑은 고딕" panose="020B0503020000020004" pitchFamily="50" charset="-127"/>
              </a:rPr>
              <a:t>ADMIN</a:t>
            </a:r>
            <a:endParaRPr lang="ko-KR" altLang="en-US" sz="8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470FBA-75B4-FE9D-9DA8-28A7C99B83A3}"/>
              </a:ext>
            </a:extLst>
          </p:cNvPr>
          <p:cNvSpPr txBox="1"/>
          <p:nvPr/>
        </p:nvSpPr>
        <p:spPr>
          <a:xfrm>
            <a:off x="4953000" y="2372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8ED9C9-A9CB-A2A7-448A-B3136A63BF53}"/>
              </a:ext>
            </a:extLst>
          </p:cNvPr>
          <p:cNvSpPr/>
          <p:nvPr/>
        </p:nvSpPr>
        <p:spPr>
          <a:xfrm>
            <a:off x="4826000" y="2692400"/>
            <a:ext cx="1447800" cy="3175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E03A18-8EF7-3B1F-AD7B-C42AFC421F59}"/>
              </a:ext>
            </a:extLst>
          </p:cNvPr>
          <p:cNvSpPr txBox="1"/>
          <p:nvPr/>
        </p:nvSpPr>
        <p:spPr>
          <a:xfrm>
            <a:off x="4953000" y="2753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E16796-E565-7687-91A0-8AAC9ABA1473}"/>
              </a:ext>
            </a:extLst>
          </p:cNvPr>
          <p:cNvSpPr txBox="1"/>
          <p:nvPr/>
        </p:nvSpPr>
        <p:spPr>
          <a:xfrm>
            <a:off x="4953000" y="3134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ED6EF-F792-6CA3-BA92-CBAAA3D617AD}"/>
              </a:ext>
            </a:extLst>
          </p:cNvPr>
          <p:cNvSpPr txBox="1"/>
          <p:nvPr/>
        </p:nvSpPr>
        <p:spPr>
          <a:xfrm>
            <a:off x="4953000" y="3515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B41B39-73A9-60F4-F011-A42FDDA66073}"/>
              </a:ext>
            </a:extLst>
          </p:cNvPr>
          <p:cNvSpPr txBox="1"/>
          <p:nvPr/>
        </p:nvSpPr>
        <p:spPr>
          <a:xfrm>
            <a:off x="4953000" y="3896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6B79A8"/>
                </a:solidFill>
                <a:latin typeface="맑은 고딕" panose="020B0503020000020004" pitchFamily="50" charset="-127"/>
              </a:rPr>
              <a:t>설정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9556867-99B3-F567-C5A9-D4DA1B6A8FC4}"/>
              </a:ext>
            </a:extLst>
          </p:cNvPr>
          <p:cNvSpPr/>
          <p:nvPr/>
        </p:nvSpPr>
        <p:spPr>
          <a:xfrm>
            <a:off x="6578600" y="1828800"/>
            <a:ext cx="812800" cy="30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587CE9-421D-4EBA-D588-B24C5D9B7846}"/>
              </a:ext>
            </a:extLst>
          </p:cNvPr>
          <p:cNvSpPr txBox="1"/>
          <p:nvPr/>
        </p:nvSpPr>
        <p:spPr>
          <a:xfrm>
            <a:off x="6578600" y="1898050"/>
            <a:ext cx="81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00">
                <a:solidFill>
                  <a:srgbClr val="475569"/>
                </a:solidFill>
                <a:latin typeface="맑은 고딕" panose="020B0503020000020004" pitchFamily="50" charset="-127"/>
              </a:rPr>
              <a:t>기간 ▾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CAC7803-0BF6-4268-6111-6BDCD6AB71C3}"/>
              </a:ext>
            </a:extLst>
          </p:cNvPr>
          <p:cNvSpPr/>
          <p:nvPr/>
        </p:nvSpPr>
        <p:spPr>
          <a:xfrm>
            <a:off x="7493000" y="1828800"/>
            <a:ext cx="812800" cy="30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14C325-E9CF-1495-DD1F-22B47AB836EA}"/>
              </a:ext>
            </a:extLst>
          </p:cNvPr>
          <p:cNvSpPr txBox="1"/>
          <p:nvPr/>
        </p:nvSpPr>
        <p:spPr>
          <a:xfrm>
            <a:off x="7493000" y="1898050"/>
            <a:ext cx="81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00">
                <a:solidFill>
                  <a:srgbClr val="475569"/>
                </a:solidFill>
                <a:latin typeface="맑은 고딕" panose="020B0503020000020004" pitchFamily="50" charset="-127"/>
              </a:rPr>
              <a:t>상태 ▾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196A6A3-C983-75C9-F4E7-DA30EACBC855}"/>
              </a:ext>
            </a:extLst>
          </p:cNvPr>
          <p:cNvSpPr/>
          <p:nvPr/>
        </p:nvSpPr>
        <p:spPr>
          <a:xfrm>
            <a:off x="8407400" y="1828800"/>
            <a:ext cx="812800" cy="30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184EC3-1C02-CF71-E4DC-2489DBCA85E7}"/>
              </a:ext>
            </a:extLst>
          </p:cNvPr>
          <p:cNvSpPr txBox="1"/>
          <p:nvPr/>
        </p:nvSpPr>
        <p:spPr>
          <a:xfrm>
            <a:off x="8407400" y="1898050"/>
            <a:ext cx="81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00">
                <a:solidFill>
                  <a:srgbClr val="475569"/>
                </a:solidFill>
                <a:latin typeface="맑은 고딕" panose="020B0503020000020004" pitchFamily="50" charset="-127"/>
              </a:rPr>
              <a:t>상품 ▾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6057916-92B8-3598-7BF5-C403A6A004FB}"/>
              </a:ext>
            </a:extLst>
          </p:cNvPr>
          <p:cNvSpPr/>
          <p:nvPr/>
        </p:nvSpPr>
        <p:spPr>
          <a:xfrm>
            <a:off x="9855200" y="1828800"/>
            <a:ext cx="1524000" cy="30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0A4062-47CB-99B2-0D63-CBA8E542D458}"/>
              </a:ext>
            </a:extLst>
          </p:cNvPr>
          <p:cNvSpPr txBox="1"/>
          <p:nvPr/>
        </p:nvSpPr>
        <p:spPr>
          <a:xfrm>
            <a:off x="9931400" y="1898050"/>
            <a:ext cx="1524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🔍 검색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78C5E77-0815-ECAB-EAEA-D721CBC554DE}"/>
              </a:ext>
            </a:extLst>
          </p:cNvPr>
          <p:cNvSpPr/>
          <p:nvPr/>
        </p:nvSpPr>
        <p:spPr>
          <a:xfrm>
            <a:off x="6578600" y="2286000"/>
            <a:ext cx="4800600" cy="279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67E645-7510-88D3-D23F-9F2EB1ED3479}"/>
              </a:ext>
            </a:extLst>
          </p:cNvPr>
          <p:cNvSpPr txBox="1"/>
          <p:nvPr/>
        </p:nvSpPr>
        <p:spPr>
          <a:xfrm>
            <a:off x="6705600" y="23552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주문일시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DE96C-887B-0D00-BA97-D0C32C066CAD}"/>
              </a:ext>
            </a:extLst>
          </p:cNvPr>
          <p:cNvSpPr txBox="1"/>
          <p:nvPr/>
        </p:nvSpPr>
        <p:spPr>
          <a:xfrm>
            <a:off x="8229600" y="23552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상품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14E5F8-B1F3-B636-D28F-D83F184B438E}"/>
              </a:ext>
            </a:extLst>
          </p:cNvPr>
          <p:cNvSpPr txBox="1"/>
          <p:nvPr/>
        </p:nvSpPr>
        <p:spPr>
          <a:xfrm>
            <a:off x="9436100" y="23552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금액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3CE909-A673-5C97-5086-8DC71B1F5B99}"/>
              </a:ext>
            </a:extLst>
          </p:cNvPr>
          <p:cNvSpPr txBox="1"/>
          <p:nvPr/>
        </p:nvSpPr>
        <p:spPr>
          <a:xfrm>
            <a:off x="10452100" y="23552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상태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D4CF4B-11AC-A210-127C-941FEB8A98F0}"/>
              </a:ext>
            </a:extLst>
          </p:cNvPr>
          <p:cNvSpPr/>
          <p:nvPr/>
        </p:nvSpPr>
        <p:spPr>
          <a:xfrm>
            <a:off x="6578600" y="2565400"/>
            <a:ext cx="48006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B3A9802-87A4-3CD2-7E88-F258FE77DD44}"/>
              </a:ext>
            </a:extLst>
          </p:cNvPr>
          <p:cNvSpPr/>
          <p:nvPr/>
        </p:nvSpPr>
        <p:spPr>
          <a:xfrm>
            <a:off x="6578600" y="28829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784898-E699-B986-8F67-F75AE5713E14}"/>
              </a:ext>
            </a:extLst>
          </p:cNvPr>
          <p:cNvSpPr txBox="1"/>
          <p:nvPr/>
        </p:nvSpPr>
        <p:spPr>
          <a:xfrm>
            <a:off x="6705600" y="26346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475569"/>
                </a:solidFill>
                <a:latin typeface="맑은 고딕" panose="020B0503020000020004" pitchFamily="50" charset="-127"/>
              </a:rPr>
              <a:t>06-06 14:21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5A3E08-0ACB-990A-D252-C27CBE3D509A}"/>
              </a:ext>
            </a:extLst>
          </p:cNvPr>
          <p:cNvSpPr txBox="1"/>
          <p:nvPr/>
        </p:nvSpPr>
        <p:spPr>
          <a:xfrm>
            <a:off x="8229600" y="26346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DC0CDB-EEA6-F356-6436-54A4BBE5F4FF}"/>
              </a:ext>
            </a:extLst>
          </p:cNvPr>
          <p:cNvSpPr txBox="1"/>
          <p:nvPr/>
        </p:nvSpPr>
        <p:spPr>
          <a:xfrm>
            <a:off x="9436100" y="26346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90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9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2606C86-5E27-6983-0BD5-2ED9B5B6D76F}"/>
              </a:ext>
            </a:extLst>
          </p:cNvPr>
          <p:cNvSpPr/>
          <p:nvPr/>
        </p:nvSpPr>
        <p:spPr>
          <a:xfrm>
            <a:off x="10452100" y="2628900"/>
            <a:ext cx="7620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887D49-5903-159E-578F-6367B917ED1C}"/>
              </a:ext>
            </a:extLst>
          </p:cNvPr>
          <p:cNvSpPr txBox="1"/>
          <p:nvPr/>
        </p:nvSpPr>
        <p:spPr>
          <a:xfrm>
            <a:off x="10452100" y="2693144"/>
            <a:ext cx="76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BBC2E9-95E0-2E2B-F987-256548465DFA}"/>
              </a:ext>
            </a:extLst>
          </p:cNvPr>
          <p:cNvSpPr/>
          <p:nvPr/>
        </p:nvSpPr>
        <p:spPr>
          <a:xfrm>
            <a:off x="6578600" y="2895600"/>
            <a:ext cx="48006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AE5FFE0-182F-3A62-D419-A2C21EBCA9E8}"/>
              </a:ext>
            </a:extLst>
          </p:cNvPr>
          <p:cNvSpPr/>
          <p:nvPr/>
        </p:nvSpPr>
        <p:spPr>
          <a:xfrm>
            <a:off x="6578600" y="32131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4C5787-FEC7-029F-221A-655C204AD9A5}"/>
              </a:ext>
            </a:extLst>
          </p:cNvPr>
          <p:cNvSpPr txBox="1"/>
          <p:nvPr/>
        </p:nvSpPr>
        <p:spPr>
          <a:xfrm>
            <a:off x="6705600" y="29648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475569"/>
                </a:solidFill>
                <a:latin typeface="맑은 고딕" panose="020B0503020000020004" pitchFamily="50" charset="-127"/>
              </a:rPr>
              <a:t>06-06 13:08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8F0F14-8B7F-204A-F5E1-9DE8D85270C8}"/>
              </a:ext>
            </a:extLst>
          </p:cNvPr>
          <p:cNvSpPr txBox="1"/>
          <p:nvPr/>
        </p:nvSpPr>
        <p:spPr>
          <a:xfrm>
            <a:off x="8229600" y="29648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3E7BCC-9BCB-FE41-C5E1-4784A1D272C1}"/>
              </a:ext>
            </a:extLst>
          </p:cNvPr>
          <p:cNvSpPr txBox="1"/>
          <p:nvPr/>
        </p:nvSpPr>
        <p:spPr>
          <a:xfrm>
            <a:off x="9436100" y="29648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90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9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72F2B1B-72BD-396D-E07A-B7FF9FB601D7}"/>
              </a:ext>
            </a:extLst>
          </p:cNvPr>
          <p:cNvSpPr/>
          <p:nvPr/>
        </p:nvSpPr>
        <p:spPr>
          <a:xfrm>
            <a:off x="10452100" y="2959100"/>
            <a:ext cx="7620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B2AA4D-681A-C012-6549-0A37EAAB9F28}"/>
              </a:ext>
            </a:extLst>
          </p:cNvPr>
          <p:cNvSpPr txBox="1"/>
          <p:nvPr/>
        </p:nvSpPr>
        <p:spPr>
          <a:xfrm>
            <a:off x="10452100" y="3023344"/>
            <a:ext cx="76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49F22A4-AAA6-8D5C-A532-9B3610E4754F}"/>
              </a:ext>
            </a:extLst>
          </p:cNvPr>
          <p:cNvSpPr/>
          <p:nvPr/>
        </p:nvSpPr>
        <p:spPr>
          <a:xfrm>
            <a:off x="6578600" y="3225800"/>
            <a:ext cx="48006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DC0EDFB-2E8A-8378-8528-6449196E96CC}"/>
              </a:ext>
            </a:extLst>
          </p:cNvPr>
          <p:cNvSpPr/>
          <p:nvPr/>
        </p:nvSpPr>
        <p:spPr>
          <a:xfrm>
            <a:off x="6578600" y="35433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310532-6199-0A12-2801-89F6A012DA7A}"/>
              </a:ext>
            </a:extLst>
          </p:cNvPr>
          <p:cNvSpPr txBox="1"/>
          <p:nvPr/>
        </p:nvSpPr>
        <p:spPr>
          <a:xfrm>
            <a:off x="6705600" y="32950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475569"/>
                </a:solidFill>
                <a:latin typeface="맑은 고딕" panose="020B0503020000020004" pitchFamily="50" charset="-127"/>
              </a:rPr>
              <a:t>06-06 11:55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D9AA2C-7C7E-D92F-7850-9419E426B3B9}"/>
              </a:ext>
            </a:extLst>
          </p:cNvPr>
          <p:cNvSpPr txBox="1"/>
          <p:nvPr/>
        </p:nvSpPr>
        <p:spPr>
          <a:xfrm>
            <a:off x="8229600" y="32950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DE1BA1-5887-272E-0857-4A500879898A}"/>
              </a:ext>
            </a:extLst>
          </p:cNvPr>
          <p:cNvSpPr txBox="1"/>
          <p:nvPr/>
        </p:nvSpPr>
        <p:spPr>
          <a:xfrm>
            <a:off x="9436100" y="32950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90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9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47149AC-11B3-1CDE-C528-6CCB9FE44506}"/>
              </a:ext>
            </a:extLst>
          </p:cNvPr>
          <p:cNvSpPr/>
          <p:nvPr/>
        </p:nvSpPr>
        <p:spPr>
          <a:xfrm>
            <a:off x="10452100" y="32893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1109D-3B16-BBA7-1203-A33367BCD6BC}"/>
              </a:ext>
            </a:extLst>
          </p:cNvPr>
          <p:cNvSpPr txBox="1"/>
          <p:nvPr/>
        </p:nvSpPr>
        <p:spPr>
          <a:xfrm>
            <a:off x="10452100" y="33535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B91C1C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1F10C84-3D4F-F6C0-93AF-2719E623BFB3}"/>
              </a:ext>
            </a:extLst>
          </p:cNvPr>
          <p:cNvSpPr/>
          <p:nvPr/>
        </p:nvSpPr>
        <p:spPr>
          <a:xfrm>
            <a:off x="6578600" y="3556000"/>
            <a:ext cx="48006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57268BB-3B4D-181A-0C04-0B6BA5E91A5C}"/>
              </a:ext>
            </a:extLst>
          </p:cNvPr>
          <p:cNvSpPr/>
          <p:nvPr/>
        </p:nvSpPr>
        <p:spPr>
          <a:xfrm>
            <a:off x="6578600" y="38735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3A40A7-8FC7-2286-4838-2E6C1A1650E7}"/>
              </a:ext>
            </a:extLst>
          </p:cNvPr>
          <p:cNvSpPr txBox="1"/>
          <p:nvPr/>
        </p:nvSpPr>
        <p:spPr>
          <a:xfrm>
            <a:off x="6705600" y="36252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475569"/>
                </a:solidFill>
                <a:latin typeface="맑은 고딕" panose="020B0503020000020004" pitchFamily="50" charset="-127"/>
              </a:rPr>
              <a:t>06-06 09:30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61B902-915D-2FE0-9F08-7806CEC9720E}"/>
              </a:ext>
            </a:extLst>
          </p:cNvPr>
          <p:cNvSpPr txBox="1"/>
          <p:nvPr/>
        </p:nvSpPr>
        <p:spPr>
          <a:xfrm>
            <a:off x="8229600" y="36252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1F2937"/>
                </a:solidFill>
                <a:latin typeface="맑은 고딕" panose="020B0503020000020004" pitchFamily="50" charset="-127"/>
              </a:rPr>
              <a:t>셀프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C7F9B5-B357-54CF-0D32-0660C7255123}"/>
              </a:ext>
            </a:extLst>
          </p:cNvPr>
          <p:cNvSpPr txBox="1"/>
          <p:nvPr/>
        </p:nvSpPr>
        <p:spPr>
          <a:xfrm>
            <a:off x="9436100" y="36252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900" b="1">
                <a:solidFill>
                  <a:srgbClr val="1F2937"/>
                </a:solidFill>
                <a:latin typeface="맑은 고딕" panose="020B0503020000020004" pitchFamily="50" charset="-127"/>
              </a:rPr>
              <a:t>4,900</a:t>
            </a:r>
            <a:endParaRPr lang="ko-KR" altLang="en-US" sz="9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3C0739F-A89B-1A59-5E08-1F6454C1FBC2}"/>
              </a:ext>
            </a:extLst>
          </p:cNvPr>
          <p:cNvSpPr/>
          <p:nvPr/>
        </p:nvSpPr>
        <p:spPr>
          <a:xfrm>
            <a:off x="10452100" y="3619500"/>
            <a:ext cx="7620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D6F04F-35B5-5D45-56D8-C7B69976583D}"/>
              </a:ext>
            </a:extLst>
          </p:cNvPr>
          <p:cNvSpPr txBox="1"/>
          <p:nvPr/>
        </p:nvSpPr>
        <p:spPr>
          <a:xfrm>
            <a:off x="10452100" y="3683744"/>
            <a:ext cx="76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771226E-D750-3566-3FC1-FF40F84E6C03}"/>
              </a:ext>
            </a:extLst>
          </p:cNvPr>
          <p:cNvSpPr/>
          <p:nvPr/>
        </p:nvSpPr>
        <p:spPr>
          <a:xfrm>
            <a:off x="6578600" y="3886200"/>
            <a:ext cx="48006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D075CE3-4DEE-0620-A8DE-15D563D8EFE7}"/>
              </a:ext>
            </a:extLst>
          </p:cNvPr>
          <p:cNvSpPr/>
          <p:nvPr/>
        </p:nvSpPr>
        <p:spPr>
          <a:xfrm>
            <a:off x="6578600" y="42037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BEDB37-9155-787C-55B7-36832695A6A7}"/>
              </a:ext>
            </a:extLst>
          </p:cNvPr>
          <p:cNvSpPr txBox="1"/>
          <p:nvPr/>
        </p:nvSpPr>
        <p:spPr>
          <a:xfrm>
            <a:off x="6705600" y="3955450"/>
            <a:ext cx="1397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475569"/>
                </a:solidFill>
                <a:latin typeface="맑은 고딕" panose="020B0503020000020004" pitchFamily="50" charset="-127"/>
              </a:rPr>
              <a:t>06-05 22:14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B3F687-E95B-4EC5-3C46-EB473E7E5799}"/>
              </a:ext>
            </a:extLst>
          </p:cNvPr>
          <p:cNvSpPr txBox="1"/>
          <p:nvPr/>
        </p:nvSpPr>
        <p:spPr>
          <a:xfrm>
            <a:off x="8229600" y="3955450"/>
            <a:ext cx="1143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75DE9E-F531-E46A-1EBA-63A238ADCBC9}"/>
              </a:ext>
            </a:extLst>
          </p:cNvPr>
          <p:cNvSpPr txBox="1"/>
          <p:nvPr/>
        </p:nvSpPr>
        <p:spPr>
          <a:xfrm>
            <a:off x="9436100" y="3955450"/>
            <a:ext cx="101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90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90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B0F8B369-4C2F-B75C-B154-DBF7C319D15B}"/>
              </a:ext>
            </a:extLst>
          </p:cNvPr>
          <p:cNvSpPr/>
          <p:nvPr/>
        </p:nvSpPr>
        <p:spPr>
          <a:xfrm>
            <a:off x="10452100" y="39497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F4602D-AEFC-C740-8AA6-A02B5D1C67EB}"/>
              </a:ext>
            </a:extLst>
          </p:cNvPr>
          <p:cNvSpPr txBox="1"/>
          <p:nvPr/>
        </p:nvSpPr>
        <p:spPr>
          <a:xfrm>
            <a:off x="10452100" y="40139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64748B"/>
                </a:solidFill>
                <a:latin typeface="맑은 고딕" panose="020B0503020000020004" pitchFamily="50" charset="-127"/>
              </a:rPr>
              <a:t>실패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3C5E18-38AA-0522-0C04-CEBCD6EB0459}"/>
              </a:ext>
            </a:extLst>
          </p:cNvPr>
          <p:cNvSpPr txBox="1"/>
          <p:nvPr/>
        </p:nvSpPr>
        <p:spPr>
          <a:xfrm>
            <a:off x="6578600" y="4361850"/>
            <a:ext cx="48006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‹  1  2  3  ›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989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1FC34B-6CF8-FCC0-D122-F60CBAA3739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C7849-4400-D024-0A49-A25BE1C585F0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C8DC4-1B1D-10C4-7C44-E768B204EFC4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④ ★ 통합 상세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(360°)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82BD4-442D-2092-2AE4-0D4704D5916E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4E589-24C3-F568-627A-2E3A30E265EE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10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5E69F-51F2-C3E0-4FDD-476A255E1DF0}"/>
              </a:ext>
            </a:extLst>
          </p:cNvPr>
          <p:cNvSpPr txBox="1"/>
          <p:nvPr/>
        </p:nvSpPr>
        <p:spPr>
          <a:xfrm>
            <a:off x="558800" y="14478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E73AA-E4C3-21AB-D5AE-F930A152A99B}"/>
              </a:ext>
            </a:extLst>
          </p:cNvPr>
          <p:cNvSpPr txBox="1"/>
          <p:nvPr/>
        </p:nvSpPr>
        <p:spPr>
          <a:xfrm>
            <a:off x="558800" y="1663700"/>
            <a:ext cx="3810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회원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결제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환불을 한 화면에서 처리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화면 이동 없이 모든 응대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35A31-1BFF-0C94-8B8F-A573C4F99C2D}"/>
              </a:ext>
            </a:extLst>
          </p:cNvPr>
          <p:cNvSpPr txBox="1"/>
          <p:nvPr/>
        </p:nvSpPr>
        <p:spPr>
          <a:xfrm>
            <a:off x="558800" y="23876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구성 요소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5F087-4481-86C2-E069-71B87866CE44}"/>
              </a:ext>
            </a:extLst>
          </p:cNvPr>
          <p:cNvSpPr txBox="1"/>
          <p:nvPr/>
        </p:nvSpPr>
        <p:spPr>
          <a:xfrm>
            <a:off x="558800" y="2603500"/>
            <a:ext cx="3810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①회원 요약 ②결제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주문 정보 ③연결 보고서 ④환불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재발급 액션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A15FC5-84F9-0DF2-5E03-EBB30B60E15C}"/>
              </a:ext>
            </a:extLst>
          </p:cNvPr>
          <p:cNvSpPr/>
          <p:nvPr/>
        </p:nvSpPr>
        <p:spPr>
          <a:xfrm>
            <a:off x="558800" y="3403600"/>
            <a:ext cx="3810000" cy="27432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B3C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0BF59-749D-CCE5-F06C-3F19E1506E72}"/>
              </a:ext>
            </a:extLst>
          </p:cNvPr>
          <p:cNvSpPr txBox="1"/>
          <p:nvPr/>
        </p:nvSpPr>
        <p:spPr>
          <a:xfrm>
            <a:off x="762000" y="3556000"/>
            <a:ext cx="3429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★ 통합</a:t>
            </a:r>
            <a:r>
              <a:rPr lang="en-US" altLang="ko-KR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(360°) </a:t>
            </a:r>
            <a:r>
              <a:rPr lang="ko-KR" altLang="en-US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원칙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462D4-C9DE-186A-4D0C-EBA55F4A5291}"/>
              </a:ext>
            </a:extLst>
          </p:cNvPr>
          <p:cNvSpPr txBox="1"/>
          <p:nvPr/>
        </p:nvSpPr>
        <p:spPr>
          <a:xfrm>
            <a:off x="762000" y="3860800"/>
            <a:ext cx="3454400" cy="79508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회원 어느 탭으로 들어와도 똑같은 이 화면으로 모인다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
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환불은 항상 운영자가 직접 클릭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토스 시크릿키는 서버에서만 호출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감사 로그 기록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5EA40B-D081-A7CA-201A-70669CDD9278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03BDF7-451A-1611-9B1B-4E4610B647C0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E1EF8F-2CCB-633A-01C8-5E4CA61C55D1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2E6349-9719-F039-24DF-565C7A4C7200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B9A93E-6315-73F2-A97D-6EA01A1F9C32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FAC88E-D031-FAA0-911A-48154620A78B}"/>
              </a:ext>
            </a:extLst>
          </p:cNvPr>
          <p:cNvSpPr txBox="1"/>
          <p:nvPr/>
        </p:nvSpPr>
        <p:spPr>
          <a:xfrm>
            <a:off x="5511800" y="1512044"/>
            <a:ext cx="584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dearname-admin.vercel.app</a:t>
            </a:r>
            <a:endParaRPr lang="ko-KR" altLang="en-US" sz="8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7A9A73-BD99-A77C-66D5-B0719985CBAA}"/>
              </a:ext>
            </a:extLst>
          </p:cNvPr>
          <p:cNvSpPr/>
          <p:nvPr/>
        </p:nvSpPr>
        <p:spPr>
          <a:xfrm>
            <a:off x="4724400" y="1701800"/>
            <a:ext cx="1651000" cy="46228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908DA7-E7F0-05C0-4CF0-85B4F9CEEAC9}"/>
              </a:ext>
            </a:extLst>
          </p:cNvPr>
          <p:cNvSpPr txBox="1"/>
          <p:nvPr/>
        </p:nvSpPr>
        <p:spPr>
          <a:xfrm>
            <a:off x="4902200" y="1803400"/>
            <a:ext cx="1422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7581B3-910F-D90F-0457-1C0E5584E13C}"/>
              </a:ext>
            </a:extLst>
          </p:cNvPr>
          <p:cNvSpPr txBox="1"/>
          <p:nvPr/>
        </p:nvSpPr>
        <p:spPr>
          <a:xfrm>
            <a:off x="4902200" y="2019300"/>
            <a:ext cx="1422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00" b="1">
                <a:solidFill>
                  <a:srgbClr val="CADCFC"/>
                </a:solidFill>
                <a:latin typeface="맑은 고딕" panose="020B0503020000020004" pitchFamily="50" charset="-127"/>
              </a:rPr>
              <a:t>ADMIN</a:t>
            </a:r>
            <a:endParaRPr lang="ko-KR" altLang="en-US" sz="8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3D0A30-FC1E-2619-10D0-0D722FAE3DFF}"/>
              </a:ext>
            </a:extLst>
          </p:cNvPr>
          <p:cNvSpPr txBox="1"/>
          <p:nvPr/>
        </p:nvSpPr>
        <p:spPr>
          <a:xfrm>
            <a:off x="4953000" y="2372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940D35C-754A-26EE-1444-1616A125C579}"/>
              </a:ext>
            </a:extLst>
          </p:cNvPr>
          <p:cNvSpPr/>
          <p:nvPr/>
        </p:nvSpPr>
        <p:spPr>
          <a:xfrm>
            <a:off x="4826000" y="2692400"/>
            <a:ext cx="1447800" cy="3175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BF898D-FEC4-47EA-D150-84E4287C3EEE}"/>
              </a:ext>
            </a:extLst>
          </p:cNvPr>
          <p:cNvSpPr txBox="1"/>
          <p:nvPr/>
        </p:nvSpPr>
        <p:spPr>
          <a:xfrm>
            <a:off x="4953000" y="2753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C760E-8059-830B-CECC-8DEF36E2355D}"/>
              </a:ext>
            </a:extLst>
          </p:cNvPr>
          <p:cNvSpPr txBox="1"/>
          <p:nvPr/>
        </p:nvSpPr>
        <p:spPr>
          <a:xfrm>
            <a:off x="4953000" y="3134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F4950-481E-7630-371D-F788B3139B74}"/>
              </a:ext>
            </a:extLst>
          </p:cNvPr>
          <p:cNvSpPr txBox="1"/>
          <p:nvPr/>
        </p:nvSpPr>
        <p:spPr>
          <a:xfrm>
            <a:off x="4953000" y="3515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92D4A5-2352-CA8F-5CCF-1C153DE9D88F}"/>
              </a:ext>
            </a:extLst>
          </p:cNvPr>
          <p:cNvSpPr txBox="1"/>
          <p:nvPr/>
        </p:nvSpPr>
        <p:spPr>
          <a:xfrm>
            <a:off x="4953000" y="3896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6B79A8"/>
                </a:solidFill>
                <a:latin typeface="맑은 고딕" panose="020B0503020000020004" pitchFamily="50" charset="-127"/>
              </a:rPr>
              <a:t>설정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A1276-39C2-4FDE-6200-E48CC19F3683}"/>
              </a:ext>
            </a:extLst>
          </p:cNvPr>
          <p:cNvSpPr txBox="1"/>
          <p:nvPr/>
        </p:nvSpPr>
        <p:spPr>
          <a:xfrm>
            <a:off x="6578600" y="1828800"/>
            <a:ext cx="279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통합 상세 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주문 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#A1B2-2026</a:t>
            </a:r>
            <a:endParaRPr lang="ko-KR" altLang="en-US" sz="11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2D693D7-8C41-5A67-E6F8-3E7438363BA2}"/>
              </a:ext>
            </a:extLst>
          </p:cNvPr>
          <p:cNvSpPr/>
          <p:nvPr/>
        </p:nvSpPr>
        <p:spPr>
          <a:xfrm>
            <a:off x="10617200" y="1841500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60E55A-9D8C-19A9-F018-E8D10BFC3A43}"/>
              </a:ext>
            </a:extLst>
          </p:cNvPr>
          <p:cNvSpPr txBox="1"/>
          <p:nvPr/>
        </p:nvSpPr>
        <p:spPr>
          <a:xfrm>
            <a:off x="10617200" y="1905744"/>
            <a:ext cx="736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50323E6-E28F-9F17-9053-60DBDECF9402}"/>
              </a:ext>
            </a:extLst>
          </p:cNvPr>
          <p:cNvSpPr/>
          <p:nvPr/>
        </p:nvSpPr>
        <p:spPr>
          <a:xfrm>
            <a:off x="6578600" y="2108200"/>
            <a:ext cx="4800600" cy="584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67359D9-A5A8-843D-ED2F-CB986B8FB28F}"/>
              </a:ext>
            </a:extLst>
          </p:cNvPr>
          <p:cNvSpPr/>
          <p:nvPr/>
        </p:nvSpPr>
        <p:spPr>
          <a:xfrm>
            <a:off x="6705600" y="2209800"/>
            <a:ext cx="381000" cy="381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DDC2BB-AC0C-A05C-FC8B-B53BAB3AA85F}"/>
              </a:ext>
            </a:extLst>
          </p:cNvPr>
          <p:cNvSpPr txBox="1"/>
          <p:nvPr/>
        </p:nvSpPr>
        <p:spPr>
          <a:xfrm>
            <a:off x="6705600" y="2255966"/>
            <a:ext cx="381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3E3F87-A855-4239-0CC4-520C5E1F3D70}"/>
              </a:ext>
            </a:extLst>
          </p:cNvPr>
          <p:cNvSpPr txBox="1"/>
          <p:nvPr/>
        </p:nvSpPr>
        <p:spPr>
          <a:xfrm>
            <a:off x="7188200" y="2171700"/>
            <a:ext cx="254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남</a:t>
            </a:r>
            <a:r>
              <a:rPr lang="en-US" altLang="ko-KR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O</a:t>
            </a:r>
            <a:r>
              <a:rPr lang="ko-KR" altLang="en-US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호  </a:t>
            </a:r>
            <a:r>
              <a:rPr lang="en-US" altLang="ko-KR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구매 회원</a:t>
            </a:r>
            <a:r>
              <a:rPr lang="en-US" altLang="ko-KR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)</a:t>
            </a:r>
            <a:endParaRPr lang="ko-KR" altLang="en-US" sz="10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97F8A7-C6F2-D572-B22A-04E2DAF6A291}"/>
              </a:ext>
            </a:extLst>
          </p:cNvPr>
          <p:cNvSpPr txBox="1"/>
          <p:nvPr/>
        </p:nvSpPr>
        <p:spPr>
          <a:xfrm>
            <a:off x="7188200" y="2400300"/>
            <a:ext cx="2794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010-****-1234 · </a:t>
            </a:r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구글 </a:t>
            </a:r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가입 </a:t>
            </a:r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2026-05-20</a:t>
            </a:r>
            <a:endParaRPr lang="ko-KR" altLang="en-US" sz="85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92CA7-DC61-1158-25E8-953722E03840}"/>
              </a:ext>
            </a:extLst>
          </p:cNvPr>
          <p:cNvSpPr txBox="1"/>
          <p:nvPr/>
        </p:nvSpPr>
        <p:spPr>
          <a:xfrm>
            <a:off x="10439400" y="22790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회원 상세 </a:t>
            </a:r>
            <a:r>
              <a:rPr lang="en-US" altLang="ko-KR" sz="900" b="1">
                <a:solidFill>
                  <a:srgbClr val="3B6FB5"/>
                </a:solidFill>
                <a:latin typeface="맑은 고딕" panose="020B0503020000020004" pitchFamily="50" charset="-127"/>
              </a:rPr>
              <a:t>›</a:t>
            </a:r>
            <a:endParaRPr lang="ko-KR" altLang="en-US" sz="9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C1B33C-B629-2930-BDE5-99269177953E}"/>
              </a:ext>
            </a:extLst>
          </p:cNvPr>
          <p:cNvSpPr txBox="1"/>
          <p:nvPr/>
        </p:nvSpPr>
        <p:spPr>
          <a:xfrm>
            <a:off x="6578600" y="2794000"/>
            <a:ext cx="2540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50" b="1">
                <a:solidFill>
                  <a:srgbClr val="3B6FB5"/>
                </a:solidFill>
                <a:latin typeface="맑은 고딕" panose="020B0503020000020004" pitchFamily="50" charset="-127"/>
              </a:rPr>
              <a:t>② 결제</a:t>
            </a:r>
            <a:r>
              <a:rPr lang="en-US" altLang="ko-KR" sz="950" b="1">
                <a:solidFill>
                  <a:srgbClr val="3B6FB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 b="1">
                <a:solidFill>
                  <a:srgbClr val="3B6FB5"/>
                </a:solidFill>
                <a:latin typeface="맑은 고딕" panose="020B0503020000020004" pitchFamily="50" charset="-127"/>
              </a:rPr>
              <a:t>주문 정보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B130B8-963F-9BE7-71D1-AB4DBB5C3F09}"/>
              </a:ext>
            </a:extLst>
          </p:cNvPr>
          <p:cNvSpPr txBox="1"/>
          <p:nvPr/>
        </p:nvSpPr>
        <p:spPr>
          <a:xfrm>
            <a:off x="6578600" y="31172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금액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55A7D7-C344-B06E-CBE2-C04C63260CC3}"/>
              </a:ext>
            </a:extLst>
          </p:cNvPr>
          <p:cNvSpPr txBox="1"/>
          <p:nvPr/>
        </p:nvSpPr>
        <p:spPr>
          <a:xfrm>
            <a:off x="7366000" y="31134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 b="1">
                <a:solidFill>
                  <a:srgbClr val="1F2937"/>
                </a:solidFill>
                <a:latin typeface="맑은 고딕" panose="020B0503020000020004" pitchFamily="50" charset="-127"/>
              </a:rPr>
              <a:t>₩ </a:t>
            </a:r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000CDC-8647-E125-1628-AD7A57B24EBC}"/>
              </a:ext>
            </a:extLst>
          </p:cNvPr>
          <p:cNvSpPr txBox="1"/>
          <p:nvPr/>
        </p:nvSpPr>
        <p:spPr>
          <a:xfrm>
            <a:off x="8978900" y="31172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결제수단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0F75C8-5159-DB75-C512-57401CB07742}"/>
              </a:ext>
            </a:extLst>
          </p:cNvPr>
          <p:cNvSpPr txBox="1"/>
          <p:nvPr/>
        </p:nvSpPr>
        <p:spPr>
          <a:xfrm>
            <a:off x="9766300" y="31134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 b="1">
                <a:solidFill>
                  <a:srgbClr val="1F2937"/>
                </a:solidFill>
                <a:latin typeface="맑은 고딕" panose="020B0503020000020004" pitchFamily="50" charset="-127"/>
              </a:rPr>
              <a:t>토스 </a:t>
            </a:r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F2937"/>
                </a:solidFill>
                <a:latin typeface="맑은 고딕" panose="020B0503020000020004" pitchFamily="50" charset="-127"/>
              </a:rPr>
              <a:t>카드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1E4E44-501C-6891-B648-0C46FB9C6E67}"/>
              </a:ext>
            </a:extLst>
          </p:cNvPr>
          <p:cNvSpPr txBox="1"/>
          <p:nvPr/>
        </p:nvSpPr>
        <p:spPr>
          <a:xfrm>
            <a:off x="6578600" y="34474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주문번호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617448-E59B-5DFA-0E80-A9E3D361DE0A}"/>
              </a:ext>
            </a:extLst>
          </p:cNvPr>
          <p:cNvSpPr txBox="1"/>
          <p:nvPr/>
        </p:nvSpPr>
        <p:spPr>
          <a:xfrm>
            <a:off x="7366000" y="34436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toss_8842F1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2FCE9C-7065-424A-92E7-F1FB8DF8E622}"/>
              </a:ext>
            </a:extLst>
          </p:cNvPr>
          <p:cNvSpPr txBox="1"/>
          <p:nvPr/>
        </p:nvSpPr>
        <p:spPr>
          <a:xfrm>
            <a:off x="8978900" y="34474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결제일시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F87445-EBFE-EA28-DA33-6B6D00B9902E}"/>
              </a:ext>
            </a:extLst>
          </p:cNvPr>
          <p:cNvSpPr txBox="1"/>
          <p:nvPr/>
        </p:nvSpPr>
        <p:spPr>
          <a:xfrm>
            <a:off x="9766300" y="34436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06-06 14:21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FCC0B81-E58E-05B4-D2A3-79388A5AFD6B}"/>
              </a:ext>
            </a:extLst>
          </p:cNvPr>
          <p:cNvSpPr/>
          <p:nvPr/>
        </p:nvSpPr>
        <p:spPr>
          <a:xfrm>
            <a:off x="6578600" y="3733800"/>
            <a:ext cx="48006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20E583-43AB-A3AE-E937-6337EAC59A91}"/>
              </a:ext>
            </a:extLst>
          </p:cNvPr>
          <p:cNvSpPr txBox="1"/>
          <p:nvPr/>
        </p:nvSpPr>
        <p:spPr>
          <a:xfrm>
            <a:off x="6731000" y="3799203"/>
            <a:ext cx="2794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>
                <a:solidFill>
                  <a:srgbClr val="1F2937"/>
                </a:solidFill>
                <a:latin typeface="맑은 고딕" panose="020B0503020000020004" pitchFamily="50" charset="-127"/>
              </a:rPr>
              <a:t>③ 보고서  김</a:t>
            </a:r>
            <a:r>
              <a:rPr lang="en-US" altLang="ko-KR" sz="950">
                <a:solidFill>
                  <a:srgbClr val="1F2937"/>
                </a:solidFill>
                <a:latin typeface="맑은 고딕" panose="020B0503020000020004" pitchFamily="50" charset="-127"/>
              </a:rPr>
              <a:t>O</a:t>
            </a:r>
            <a:r>
              <a:rPr lang="ko-KR" altLang="en-US" sz="950">
                <a:solidFill>
                  <a:srgbClr val="1F2937"/>
                </a:solidFill>
                <a:latin typeface="맑은 고딕" panose="020B0503020000020004" pitchFamily="50" charset="-127"/>
              </a:rPr>
              <a:t>연 </a:t>
            </a:r>
            <a:r>
              <a:rPr lang="en-US" altLang="ko-KR" sz="950">
                <a:solidFill>
                  <a:srgbClr val="1F293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50">
                <a:solidFill>
                  <a:srgbClr val="1F2937"/>
                </a:solidFill>
                <a:latin typeface="맑은 고딕" panose="020B0503020000020004" pitchFamily="50" charset="-127"/>
              </a:rPr>
              <a:t>金소연</a:t>
            </a:r>
            <a:r>
              <a:rPr lang="en-US" altLang="ko-KR" sz="950">
                <a:solidFill>
                  <a:srgbClr val="1F2937"/>
                </a:solidFill>
                <a:latin typeface="맑은 고딕" panose="020B0503020000020004" pitchFamily="50" charset="-127"/>
              </a:rPr>
              <a:t>) · 92</a:t>
            </a:r>
            <a:r>
              <a:rPr lang="ko-KR" altLang="en-US" sz="950">
                <a:solidFill>
                  <a:srgbClr val="1F2937"/>
                </a:solidFill>
                <a:latin typeface="맑은 고딕" panose="020B0503020000020004" pitchFamily="50" charset="-127"/>
              </a:rPr>
              <a:t>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F94E03-8104-E9A0-0128-735A06A9E0B4}"/>
              </a:ext>
            </a:extLst>
          </p:cNvPr>
          <p:cNvSpPr txBox="1"/>
          <p:nvPr/>
        </p:nvSpPr>
        <p:spPr>
          <a:xfrm>
            <a:off x="10058400" y="380305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보기 </a:t>
            </a:r>
            <a:r>
              <a:rPr lang="en-US" altLang="ko-KR" sz="900" b="1">
                <a:solidFill>
                  <a:srgbClr val="3B6FB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재발급 </a:t>
            </a:r>
            <a:r>
              <a:rPr lang="en-US" altLang="ko-KR" sz="900" b="1">
                <a:solidFill>
                  <a:srgbClr val="3B6FB5"/>
                </a:solidFill>
                <a:latin typeface="맑은 고딕" panose="020B0503020000020004" pitchFamily="50" charset="-127"/>
              </a:rPr>
              <a:t>›</a:t>
            </a:r>
            <a:endParaRPr lang="ko-KR" altLang="en-US" sz="9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056276A-51C4-62B4-E23E-053DCBF38D1F}"/>
              </a:ext>
            </a:extLst>
          </p:cNvPr>
          <p:cNvSpPr/>
          <p:nvPr/>
        </p:nvSpPr>
        <p:spPr>
          <a:xfrm>
            <a:off x="6578600" y="4368800"/>
            <a:ext cx="1905000" cy="431800"/>
          </a:xfrm>
          <a:prstGeom prst="roundRect">
            <a:avLst>
              <a:gd name="adj" fmla="val 6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B35FB3-9FC4-F280-3F6F-08CC190C292B}"/>
              </a:ext>
            </a:extLst>
          </p:cNvPr>
          <p:cNvSpPr txBox="1"/>
          <p:nvPr/>
        </p:nvSpPr>
        <p:spPr>
          <a:xfrm>
            <a:off x="6578600" y="4422661"/>
            <a:ext cx="190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④ 환불 처리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5AA1D41-2C30-8FFC-E53D-665CCB7A500A}"/>
              </a:ext>
            </a:extLst>
          </p:cNvPr>
          <p:cNvSpPr/>
          <p:nvPr/>
        </p:nvSpPr>
        <p:spPr>
          <a:xfrm>
            <a:off x="8610600" y="4368800"/>
            <a:ext cx="1905000" cy="4318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E75519-71B8-3F72-5538-808C03D94C77}"/>
              </a:ext>
            </a:extLst>
          </p:cNvPr>
          <p:cNvSpPr txBox="1"/>
          <p:nvPr/>
        </p:nvSpPr>
        <p:spPr>
          <a:xfrm>
            <a:off x="8610600" y="4422661"/>
            <a:ext cx="190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보고서 재발급</a:t>
            </a:r>
          </a:p>
        </p:txBody>
      </p:sp>
    </p:spTree>
    <p:extLst>
      <p:ext uri="{BB962C8B-B14F-4D97-AF65-F5344CB8AC3E}">
        <p14:creationId xmlns:p14="http://schemas.microsoft.com/office/powerpoint/2010/main" val="338105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58AD46-14D2-3483-9F61-E7FBAAE0DEB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11EDE-34C8-2820-095F-945A6D43ED28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CFA3B-83B9-1400-8A93-20EA092C1D9E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⑤ 보고서 상세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핵심 일부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디어네임 열기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8EC28-CDA4-043B-F794-3ABF8E77B93E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07652-620C-B07F-21FD-BE20F54A6A54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11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79993-5476-AC11-4A0F-6C07C373C43C}"/>
              </a:ext>
            </a:extLst>
          </p:cNvPr>
          <p:cNvSpPr txBox="1"/>
          <p:nvPr/>
        </p:nvSpPr>
        <p:spPr>
          <a:xfrm>
            <a:off x="558800" y="14478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294EA-ECAB-F877-2CBA-56FA48EB744F}"/>
              </a:ext>
            </a:extLst>
          </p:cNvPr>
          <p:cNvSpPr txBox="1"/>
          <p:nvPr/>
        </p:nvSpPr>
        <p:spPr>
          <a:xfrm>
            <a:off x="558800" y="1663700"/>
            <a:ext cx="3810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보고서 핵심 일부를 빠르게 확인하고 재발송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전체는 디어네임에서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D5CF7-9503-F0F7-498D-59BE8D12CDFB}"/>
              </a:ext>
            </a:extLst>
          </p:cNvPr>
          <p:cNvSpPr txBox="1"/>
          <p:nvPr/>
        </p:nvSpPr>
        <p:spPr>
          <a:xfrm>
            <a:off x="558800" y="23876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표시 내용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EF3B5-7DE3-F630-3E74-4CE14CAF206F}"/>
              </a:ext>
            </a:extLst>
          </p:cNvPr>
          <p:cNvSpPr txBox="1"/>
          <p:nvPr/>
        </p:nvSpPr>
        <p:spPr>
          <a:xfrm>
            <a:off x="558800" y="26035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저장본에서 이름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점수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핵심 메시지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요약만 발췌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전체 본문은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X).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0795-CFC0-D56F-5D4B-46F639433858}"/>
              </a:ext>
            </a:extLst>
          </p:cNvPr>
          <p:cNvSpPr txBox="1"/>
          <p:nvPr/>
        </p:nvSpPr>
        <p:spPr>
          <a:xfrm>
            <a:off x="558800" y="33274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디어네임 열기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92C06-BA2E-B2CD-798F-3C6140900C01}"/>
              </a:ext>
            </a:extLst>
          </p:cNvPr>
          <p:cNvSpPr txBox="1"/>
          <p:nvPr/>
        </p:nvSpPr>
        <p:spPr>
          <a:xfrm>
            <a:off x="558800" y="35433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디어네임에서 열기 ↗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] →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본 서비스 보고서 화면을 새 탭으로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75EAFC-B444-000F-0535-47DECBF4B5C1}"/>
              </a:ext>
            </a:extLst>
          </p:cNvPr>
          <p:cNvSpPr/>
          <p:nvPr/>
        </p:nvSpPr>
        <p:spPr>
          <a:xfrm>
            <a:off x="558800" y="4343400"/>
            <a:ext cx="3810000" cy="1803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68D3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35C161-1D4F-AF44-274A-7A375A93B902}"/>
              </a:ext>
            </a:extLst>
          </p:cNvPr>
          <p:cNvSpPr txBox="1"/>
          <p:nvPr/>
        </p:nvSpPr>
        <p:spPr>
          <a:xfrm>
            <a:off x="762000" y="4470400"/>
            <a:ext cx="3429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B7A41"/>
                </a:solidFill>
                <a:latin typeface="맑은 고딕" panose="020B0503020000020004" pitchFamily="50" charset="-127"/>
              </a:rPr>
              <a:t>핵심 설계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F0D99-C38E-6131-CD05-E63D768A1F71}"/>
              </a:ext>
            </a:extLst>
          </p:cNvPr>
          <p:cNvSpPr txBox="1"/>
          <p:nvPr/>
        </p:nvSpPr>
        <p:spPr>
          <a:xfrm>
            <a:off x="762000" y="4775200"/>
            <a:ext cx="34544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1B5E33"/>
                </a:solidFill>
                <a:latin typeface="맑은 고딕" panose="020B0503020000020004" pitchFamily="50" charset="-127"/>
              </a:rPr>
              <a:t>어드민엔 핵심 일부만</a:t>
            </a:r>
            <a:r>
              <a:rPr lang="en-US" altLang="ko-KR" sz="1000">
                <a:solidFill>
                  <a:srgbClr val="1B5E33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>
                <a:solidFill>
                  <a:srgbClr val="1B5E33"/>
                </a:solidFill>
                <a:latin typeface="맑은 고딕" panose="020B0503020000020004" pitchFamily="50" charset="-127"/>
              </a:rPr>
              <a:t>전체 열람은 </a:t>
            </a:r>
            <a:r>
              <a:rPr lang="en-US" altLang="ko-KR" sz="1000">
                <a:solidFill>
                  <a:srgbClr val="1B5E33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000">
                <a:solidFill>
                  <a:srgbClr val="1B5E33"/>
                </a:solidFill>
                <a:latin typeface="맑은 고딕" panose="020B0503020000020004" pitchFamily="50" charset="-127"/>
              </a:rPr>
              <a:t>디어네임에서 열기</a:t>
            </a:r>
            <a:r>
              <a:rPr lang="en-US" altLang="ko-KR" sz="1000">
                <a:solidFill>
                  <a:srgbClr val="1B5E33"/>
                </a:solidFill>
                <a:latin typeface="맑은 고딕" panose="020B0503020000020004" pitchFamily="50" charset="-127"/>
              </a:rPr>
              <a:t>]</a:t>
            </a:r>
            <a:r>
              <a:rPr lang="ko-KR" altLang="en-US" sz="1000">
                <a:solidFill>
                  <a:srgbClr val="1B5E33"/>
                </a:solidFill>
                <a:latin typeface="맑은 고딕" panose="020B0503020000020004" pitchFamily="50" charset="-127"/>
              </a:rPr>
              <a:t>로 본 서비스 화면을 재사용 → 보고서 렌더링 중복 구현 불필요</a:t>
            </a:r>
            <a:r>
              <a:rPr lang="en-US" altLang="ko-KR" sz="1000">
                <a:solidFill>
                  <a:srgbClr val="1B5E33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1B5E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44CE623-0166-8677-76D8-66C0062258FD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AE4545-A05A-238D-F2DD-F1C647E8A04E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D7BD2B-65FE-16FA-C246-81EE3706CBFD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8BF7CD-7853-83BB-FBD0-5464A2CD07B7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CFC82C-48DE-46C0-B0C1-89CE2926496A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0442F-128F-D3BD-F19F-82C97159BC61}"/>
              </a:ext>
            </a:extLst>
          </p:cNvPr>
          <p:cNvSpPr txBox="1"/>
          <p:nvPr/>
        </p:nvSpPr>
        <p:spPr>
          <a:xfrm>
            <a:off x="5511800" y="1512044"/>
            <a:ext cx="584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dearname-admin.vercel.app</a:t>
            </a:r>
            <a:endParaRPr lang="ko-KR" altLang="en-US" sz="8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78A1F8-4278-277B-4D1A-5BCE728F144D}"/>
              </a:ext>
            </a:extLst>
          </p:cNvPr>
          <p:cNvSpPr/>
          <p:nvPr/>
        </p:nvSpPr>
        <p:spPr>
          <a:xfrm>
            <a:off x="4724400" y="1701800"/>
            <a:ext cx="1651000" cy="46228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25123-5AE7-FC83-D85F-C20404605AEC}"/>
              </a:ext>
            </a:extLst>
          </p:cNvPr>
          <p:cNvSpPr txBox="1"/>
          <p:nvPr/>
        </p:nvSpPr>
        <p:spPr>
          <a:xfrm>
            <a:off x="4902200" y="1803400"/>
            <a:ext cx="1422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1F54E-F0E3-DFC8-3CEC-D27353F1D1F6}"/>
              </a:ext>
            </a:extLst>
          </p:cNvPr>
          <p:cNvSpPr txBox="1"/>
          <p:nvPr/>
        </p:nvSpPr>
        <p:spPr>
          <a:xfrm>
            <a:off x="4902200" y="2019300"/>
            <a:ext cx="1422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00" b="1">
                <a:solidFill>
                  <a:srgbClr val="CADCFC"/>
                </a:solidFill>
                <a:latin typeface="맑은 고딕" panose="020B0503020000020004" pitchFamily="50" charset="-127"/>
              </a:rPr>
              <a:t>ADMIN</a:t>
            </a:r>
            <a:endParaRPr lang="ko-KR" altLang="en-US" sz="8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501A41-39C8-C605-83C3-A2D442C566A5}"/>
              </a:ext>
            </a:extLst>
          </p:cNvPr>
          <p:cNvSpPr txBox="1"/>
          <p:nvPr/>
        </p:nvSpPr>
        <p:spPr>
          <a:xfrm>
            <a:off x="4953000" y="2372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620046-676E-2BDF-4BBD-EBE36418A955}"/>
              </a:ext>
            </a:extLst>
          </p:cNvPr>
          <p:cNvSpPr txBox="1"/>
          <p:nvPr/>
        </p:nvSpPr>
        <p:spPr>
          <a:xfrm>
            <a:off x="4953000" y="2753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>
                <a:solidFill>
                  <a:srgbClr val="CADCF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DBB64DC-C404-501D-700D-FFD59A0A2906}"/>
              </a:ext>
            </a:extLst>
          </p:cNvPr>
          <p:cNvSpPr/>
          <p:nvPr/>
        </p:nvSpPr>
        <p:spPr>
          <a:xfrm>
            <a:off x="4826000" y="3073400"/>
            <a:ext cx="1447800" cy="3175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36B5D-2785-813A-9195-5CF4A3835D78}"/>
              </a:ext>
            </a:extLst>
          </p:cNvPr>
          <p:cNvSpPr txBox="1"/>
          <p:nvPr/>
        </p:nvSpPr>
        <p:spPr>
          <a:xfrm>
            <a:off x="4953000" y="3134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76E807-41EC-C646-4548-A9746C938908}"/>
              </a:ext>
            </a:extLst>
          </p:cNvPr>
          <p:cNvSpPr txBox="1"/>
          <p:nvPr/>
        </p:nvSpPr>
        <p:spPr>
          <a:xfrm>
            <a:off x="4953000" y="3515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BC596E-5BEC-C23F-1365-2542DDC6CB0A}"/>
              </a:ext>
            </a:extLst>
          </p:cNvPr>
          <p:cNvSpPr txBox="1"/>
          <p:nvPr/>
        </p:nvSpPr>
        <p:spPr>
          <a:xfrm>
            <a:off x="4953000" y="3896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6B79A8"/>
                </a:solidFill>
                <a:latin typeface="맑은 고딕" panose="020B0503020000020004" pitchFamily="50" charset="-127"/>
              </a:rPr>
              <a:t>설정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EA2E29-FC55-3D09-5590-687B565403AA}"/>
              </a:ext>
            </a:extLst>
          </p:cNvPr>
          <p:cNvSpPr txBox="1"/>
          <p:nvPr/>
        </p:nvSpPr>
        <p:spPr>
          <a:xfrm>
            <a:off x="6578600" y="1828800"/>
            <a:ext cx="2794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김</a:t>
            </a:r>
            <a:r>
              <a:rPr lang="en-US" altLang="ko-KR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O</a:t>
            </a:r>
            <a:r>
              <a:rPr lang="ko-KR" altLang="en-US" sz="1500" b="1">
                <a:solidFill>
                  <a:srgbClr val="1A1A2E"/>
                </a:solidFill>
                <a:latin typeface="맑은 고딕" panose="020B0503020000020004" pitchFamily="50" charset="-127"/>
              </a:rPr>
              <a:t>연  金소연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A9DE9C0-BCF7-DB00-BA25-3657FE7DE05F}"/>
              </a:ext>
            </a:extLst>
          </p:cNvPr>
          <p:cNvSpPr/>
          <p:nvPr/>
        </p:nvSpPr>
        <p:spPr>
          <a:xfrm>
            <a:off x="10668000" y="1854200"/>
            <a:ext cx="660400" cy="279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3E18E0-7789-38DB-F1AF-54F05F233CE2}"/>
              </a:ext>
            </a:extLst>
          </p:cNvPr>
          <p:cNvSpPr txBox="1"/>
          <p:nvPr/>
        </p:nvSpPr>
        <p:spPr>
          <a:xfrm>
            <a:off x="10668000" y="1895361"/>
            <a:ext cx="660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92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점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0059CDF-9E61-1852-34FB-D9366BD036CA}"/>
              </a:ext>
            </a:extLst>
          </p:cNvPr>
          <p:cNvSpPr/>
          <p:nvPr/>
        </p:nvSpPr>
        <p:spPr>
          <a:xfrm>
            <a:off x="6578600" y="2209800"/>
            <a:ext cx="4800600" cy="152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657E52-20A4-FD32-FAB0-5B31D702820A}"/>
              </a:ext>
            </a:extLst>
          </p:cNvPr>
          <p:cNvSpPr txBox="1"/>
          <p:nvPr/>
        </p:nvSpPr>
        <p:spPr>
          <a:xfrm>
            <a:off x="6756400" y="2311400"/>
            <a:ext cx="254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핵심 메시지 </a:t>
            </a:r>
            <a:r>
              <a:rPr lang="en-US" altLang="ko-KR" sz="900" b="1">
                <a:solidFill>
                  <a:srgbClr val="3B6FB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발췌</a:t>
            </a:r>
            <a:r>
              <a:rPr lang="en-US" altLang="ko-KR" sz="900" b="1">
                <a:solidFill>
                  <a:srgbClr val="3B6FB5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92F690-36F3-D25D-2247-3C19BDD130D5}"/>
              </a:ext>
            </a:extLst>
          </p:cNvPr>
          <p:cNvSpPr txBox="1"/>
          <p:nvPr/>
        </p:nvSpPr>
        <p:spPr>
          <a:xfrm>
            <a:off x="6756400" y="2527300"/>
            <a:ext cx="4445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 b="1">
                <a:solidFill>
                  <a:srgbClr val="1F2937"/>
                </a:solidFill>
                <a:latin typeface="맑은 고딕" panose="020B0503020000020004" pitchFamily="50" charset="-127"/>
              </a:rPr>
              <a:t>물의 지혜와 나무의 성장을 함께 품은 이름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31A3DD-0945-BEB5-124B-B9B8F9D914F3}"/>
              </a:ext>
            </a:extLst>
          </p:cNvPr>
          <p:cNvSpPr txBox="1"/>
          <p:nvPr/>
        </p:nvSpPr>
        <p:spPr>
          <a:xfrm>
            <a:off x="6756400" y="2946400"/>
            <a:ext cx="254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 b="1">
                <a:solidFill>
                  <a:srgbClr val="3B6FB5"/>
                </a:solidFill>
                <a:latin typeface="맑은 고딕" panose="020B0503020000020004" pitchFamily="50" charset="-127"/>
              </a:rPr>
              <a:t>요약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05E3186-9359-72DD-0FBC-51CE23D5D16F}"/>
              </a:ext>
            </a:extLst>
          </p:cNvPr>
          <p:cNvSpPr/>
          <p:nvPr/>
        </p:nvSpPr>
        <p:spPr>
          <a:xfrm>
            <a:off x="6756400" y="3175000"/>
            <a:ext cx="4445000" cy="76200"/>
          </a:xfrm>
          <a:prstGeom prst="roundRect">
            <a:avLst>
              <a:gd name="adj" fmla="val 6000"/>
            </a:avLst>
          </a:prstGeom>
          <a:solidFill>
            <a:srgbClr val="D8E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38E3E1C-C344-4FAB-C2DD-C87F39C798DE}"/>
              </a:ext>
            </a:extLst>
          </p:cNvPr>
          <p:cNvSpPr/>
          <p:nvPr/>
        </p:nvSpPr>
        <p:spPr>
          <a:xfrm>
            <a:off x="6756400" y="3327400"/>
            <a:ext cx="3784600" cy="76200"/>
          </a:xfrm>
          <a:prstGeom prst="roundRect">
            <a:avLst>
              <a:gd name="adj" fmla="val 6000"/>
            </a:avLst>
          </a:prstGeom>
          <a:solidFill>
            <a:srgbClr val="D8E0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B68FDF5-7505-CAF8-EE08-6A22DFECB7A9}"/>
              </a:ext>
            </a:extLst>
          </p:cNvPr>
          <p:cNvSpPr/>
          <p:nvPr/>
        </p:nvSpPr>
        <p:spPr>
          <a:xfrm>
            <a:off x="6578600" y="3886200"/>
            <a:ext cx="4800600" cy="431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3B6F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DD4B4A-7194-ACE7-891D-8AF56BD7673A}"/>
              </a:ext>
            </a:extLst>
          </p:cNvPr>
          <p:cNvSpPr txBox="1"/>
          <p:nvPr/>
        </p:nvSpPr>
        <p:spPr>
          <a:xfrm>
            <a:off x="6578600" y="3940061"/>
            <a:ext cx="48006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↗  디어네임에서 전체 보고서 열기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9BC9832-8C79-894C-A50E-775DD3BB92B0}"/>
              </a:ext>
            </a:extLst>
          </p:cNvPr>
          <p:cNvSpPr/>
          <p:nvPr/>
        </p:nvSpPr>
        <p:spPr>
          <a:xfrm>
            <a:off x="6578600" y="4445000"/>
            <a:ext cx="1905000" cy="4318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BAC79E-62A6-8E52-0148-B7737D3879F1}"/>
              </a:ext>
            </a:extLst>
          </p:cNvPr>
          <p:cNvSpPr txBox="1"/>
          <p:nvPr/>
        </p:nvSpPr>
        <p:spPr>
          <a:xfrm>
            <a:off x="6578600" y="4498861"/>
            <a:ext cx="190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보고서 재발급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903753A-E1CC-E49D-5B35-31930FEA5542}"/>
              </a:ext>
            </a:extLst>
          </p:cNvPr>
          <p:cNvSpPr/>
          <p:nvPr/>
        </p:nvSpPr>
        <p:spPr>
          <a:xfrm>
            <a:off x="8610600" y="4445000"/>
            <a:ext cx="1397000" cy="43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3E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3F2ABF-414F-A77C-F36C-7649F64EE128}"/>
              </a:ext>
            </a:extLst>
          </p:cNvPr>
          <p:cNvSpPr txBox="1"/>
          <p:nvPr/>
        </p:nvSpPr>
        <p:spPr>
          <a:xfrm>
            <a:off x="8610600" y="4498861"/>
            <a:ext cx="1397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1100" b="1">
                <a:solidFill>
                  <a:srgbClr val="E53E3E"/>
                </a:solidFill>
                <a:latin typeface="맑은 고딕" panose="020B0503020000020004" pitchFamily="50" charset="-127"/>
              </a:rPr>
              <a:t>환불</a:t>
            </a:r>
          </a:p>
        </p:txBody>
      </p:sp>
    </p:spTree>
    <p:extLst>
      <p:ext uri="{BB962C8B-B14F-4D97-AF65-F5344CB8AC3E}">
        <p14:creationId xmlns:p14="http://schemas.microsoft.com/office/powerpoint/2010/main" val="473337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E105C7-EF57-5D4F-43C5-7E99B6433BC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3263F-AEA9-724F-B0A6-D15972139021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05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화면 설계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(UI/UX)</a:t>
            </a:r>
            <a:endParaRPr lang="ko-KR" altLang="en-US" sz="120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02403-B623-A309-EAA6-881EC5438881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화면 ⑥ 회원 관리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6F60F-51DA-DE25-F282-2AD0E101607F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899FA-33B6-0848-69B2-359AB1F05685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12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D22D4-2FE8-7C4D-DBCE-10E7E5826971}"/>
              </a:ext>
            </a:extLst>
          </p:cNvPr>
          <p:cNvSpPr txBox="1"/>
          <p:nvPr/>
        </p:nvSpPr>
        <p:spPr>
          <a:xfrm>
            <a:off x="558800" y="14478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화면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39BBF-2435-BC8F-72A2-5B1026D6A45A}"/>
              </a:ext>
            </a:extLst>
          </p:cNvPr>
          <p:cNvSpPr txBox="1"/>
          <p:nvPr/>
        </p:nvSpPr>
        <p:spPr>
          <a:xfrm>
            <a:off x="558800" y="1663700"/>
            <a:ext cx="3810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회원 목록에서 검색 → 회원 정보와 모든 거래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보고서를 한눈에 보고 응대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BC448-4A45-A7DE-2A3F-309195B842FA}"/>
              </a:ext>
            </a:extLst>
          </p:cNvPr>
          <p:cNvSpPr txBox="1"/>
          <p:nvPr/>
        </p:nvSpPr>
        <p:spPr>
          <a:xfrm>
            <a:off x="558800" y="2489200"/>
            <a:ext cx="3810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구성 요소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9652A-6A8D-1269-A1C7-B29262A869DD}"/>
              </a:ext>
            </a:extLst>
          </p:cNvPr>
          <p:cNvSpPr txBox="1"/>
          <p:nvPr/>
        </p:nvSpPr>
        <p:spPr>
          <a:xfrm>
            <a:off x="558800" y="2705100"/>
            <a:ext cx="3810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회원 정보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구매 이력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각 주문 환불 가능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) +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보고서 목록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8E9984-D74A-C6D1-AC8B-30FE466D3B5C}"/>
              </a:ext>
            </a:extLst>
          </p:cNvPr>
          <p:cNvSpPr/>
          <p:nvPr/>
        </p:nvSpPr>
        <p:spPr>
          <a:xfrm>
            <a:off x="558800" y="3530600"/>
            <a:ext cx="3810000" cy="26162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B3C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0D403-E2BC-0A56-904A-C739DE2F5850}"/>
              </a:ext>
            </a:extLst>
          </p:cNvPr>
          <p:cNvSpPr txBox="1"/>
          <p:nvPr/>
        </p:nvSpPr>
        <p:spPr>
          <a:xfrm>
            <a:off x="762000" y="3683000"/>
            <a:ext cx="3429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1E2761"/>
                </a:solidFill>
                <a:latin typeface="맑은 고딕" panose="020B0503020000020004" pitchFamily="50" charset="-127"/>
              </a:rPr>
              <a:t>📌 통합 관점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8CECB-4780-CBEB-DE4C-A04B65755B5C}"/>
              </a:ext>
            </a:extLst>
          </p:cNvPr>
          <p:cNvSpPr txBox="1"/>
          <p:nvPr/>
        </p:nvSpPr>
        <p:spPr>
          <a:xfrm>
            <a:off x="762000" y="3987800"/>
            <a:ext cx="3454400" cy="64120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이 고객이 무엇을 사고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어떤 보고서를 받았고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환불이 있었는지를 한 곳에서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
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구매 이력의 주문을 누르면 통합 상세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(360°)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로 이어진다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3C4A8-D6DB-96CC-3A1C-BFFD77FA8264}"/>
              </a:ext>
            </a:extLst>
          </p:cNvPr>
          <p:cNvSpPr/>
          <p:nvPr/>
        </p:nvSpPr>
        <p:spPr>
          <a:xfrm>
            <a:off x="4724400" y="1397000"/>
            <a:ext cx="6858000" cy="492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399C14-8EB5-60C9-06D0-F20CE28C4E0F}"/>
              </a:ext>
            </a:extLst>
          </p:cNvPr>
          <p:cNvSpPr/>
          <p:nvPr/>
        </p:nvSpPr>
        <p:spPr>
          <a:xfrm>
            <a:off x="4724400" y="1397000"/>
            <a:ext cx="6858000" cy="304800"/>
          </a:xfrm>
          <a:prstGeom prst="rect">
            <a:avLst/>
          </a:prstGeom>
          <a:solidFill>
            <a:srgbClr val="E9ED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503C2D-D282-3638-9435-B89C8AC25AD0}"/>
              </a:ext>
            </a:extLst>
          </p:cNvPr>
          <p:cNvSpPr/>
          <p:nvPr/>
        </p:nvSpPr>
        <p:spPr>
          <a:xfrm>
            <a:off x="4876800" y="1498600"/>
            <a:ext cx="101600" cy="101600"/>
          </a:xfrm>
          <a:prstGeom prst="rect">
            <a:avLst/>
          </a:prstGeom>
          <a:solidFill>
            <a:srgbClr val="E06C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927305-AE55-5F8C-1C42-E5AD1B84BFBE}"/>
              </a:ext>
            </a:extLst>
          </p:cNvPr>
          <p:cNvSpPr/>
          <p:nvPr/>
        </p:nvSpPr>
        <p:spPr>
          <a:xfrm>
            <a:off x="5054600" y="1498600"/>
            <a:ext cx="101600" cy="101600"/>
          </a:xfrm>
          <a:prstGeom prst="rect">
            <a:avLst/>
          </a:prstGeom>
          <a:solidFill>
            <a:srgbClr val="E5C0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5C51D7-00F4-61C9-1B05-D33762F024E9}"/>
              </a:ext>
            </a:extLst>
          </p:cNvPr>
          <p:cNvSpPr/>
          <p:nvPr/>
        </p:nvSpPr>
        <p:spPr>
          <a:xfrm>
            <a:off x="5232400" y="1498600"/>
            <a:ext cx="101600" cy="101600"/>
          </a:xfrm>
          <a:prstGeom prst="rect">
            <a:avLst/>
          </a:prstGeom>
          <a:solidFill>
            <a:srgbClr val="98C3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95438-4399-D26D-A18B-C817837CA55B}"/>
              </a:ext>
            </a:extLst>
          </p:cNvPr>
          <p:cNvSpPr txBox="1"/>
          <p:nvPr/>
        </p:nvSpPr>
        <p:spPr>
          <a:xfrm>
            <a:off x="5511800" y="1512044"/>
            <a:ext cx="58420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맑은 고딕" panose="020B0503020000020004" pitchFamily="50" charset="-127"/>
              </a:rPr>
              <a:t>dearname-admin.vercel.app</a:t>
            </a:r>
            <a:endParaRPr lang="ko-KR" altLang="en-US" sz="8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E5614-4501-8C01-8238-A4E7B8FB9345}"/>
              </a:ext>
            </a:extLst>
          </p:cNvPr>
          <p:cNvSpPr/>
          <p:nvPr/>
        </p:nvSpPr>
        <p:spPr>
          <a:xfrm>
            <a:off x="4724400" y="1701800"/>
            <a:ext cx="1651000" cy="46228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374B3-70D5-9E79-BA63-D0A2EC57AB70}"/>
              </a:ext>
            </a:extLst>
          </p:cNvPr>
          <p:cNvSpPr txBox="1"/>
          <p:nvPr/>
        </p:nvSpPr>
        <p:spPr>
          <a:xfrm>
            <a:off x="4902200" y="1803400"/>
            <a:ext cx="14224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DearName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1285A-0B54-17A5-535D-1DAEF9C7BC84}"/>
              </a:ext>
            </a:extLst>
          </p:cNvPr>
          <p:cNvSpPr txBox="1"/>
          <p:nvPr/>
        </p:nvSpPr>
        <p:spPr>
          <a:xfrm>
            <a:off x="4902200" y="2019300"/>
            <a:ext cx="1422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800" b="1">
                <a:solidFill>
                  <a:srgbClr val="CADCFC"/>
                </a:solidFill>
                <a:latin typeface="맑은 고딕" panose="020B0503020000020004" pitchFamily="50" charset="-127"/>
              </a:rPr>
              <a:t>ADMIN</a:t>
            </a:r>
            <a:endParaRPr lang="ko-KR" altLang="en-US" sz="8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A0232-23D8-9BB5-98D0-52F3CF01C9C0}"/>
              </a:ext>
            </a:extLst>
          </p:cNvPr>
          <p:cNvSpPr txBox="1"/>
          <p:nvPr/>
        </p:nvSpPr>
        <p:spPr>
          <a:xfrm>
            <a:off x="4953000" y="2372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대시보드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E16FD9-BE5A-0C94-4078-8DACE7020FF0}"/>
              </a:ext>
            </a:extLst>
          </p:cNvPr>
          <p:cNvSpPr txBox="1"/>
          <p:nvPr/>
        </p:nvSpPr>
        <p:spPr>
          <a:xfrm>
            <a:off x="4953000" y="2753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000">
                <a:solidFill>
                  <a:srgbClr val="CADCF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결제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AB83A8-C08C-C8D7-9396-550BF1968940}"/>
              </a:ext>
            </a:extLst>
          </p:cNvPr>
          <p:cNvSpPr txBox="1"/>
          <p:nvPr/>
        </p:nvSpPr>
        <p:spPr>
          <a:xfrm>
            <a:off x="4953000" y="3134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CADCFC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651359D-3B1D-76E4-9F9A-0565D7E0EED4}"/>
              </a:ext>
            </a:extLst>
          </p:cNvPr>
          <p:cNvSpPr/>
          <p:nvPr/>
        </p:nvSpPr>
        <p:spPr>
          <a:xfrm>
            <a:off x="4826000" y="3454400"/>
            <a:ext cx="1447800" cy="3175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B7ED21-9F0E-7CE9-3CE5-3696F9910150}"/>
              </a:ext>
            </a:extLst>
          </p:cNvPr>
          <p:cNvSpPr txBox="1"/>
          <p:nvPr/>
        </p:nvSpPr>
        <p:spPr>
          <a:xfrm>
            <a:off x="4953000" y="3515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D94D4A-DB6F-386D-AFBB-DD463D7607A9}"/>
              </a:ext>
            </a:extLst>
          </p:cNvPr>
          <p:cNvSpPr txBox="1"/>
          <p:nvPr/>
        </p:nvSpPr>
        <p:spPr>
          <a:xfrm>
            <a:off x="4953000" y="3896955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000">
                <a:solidFill>
                  <a:srgbClr val="6B79A8"/>
                </a:solidFill>
                <a:latin typeface="맑은 고딕" panose="020B0503020000020004" pitchFamily="50" charset="-127"/>
              </a:rPr>
              <a:t>설정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1FDE1B8-C0C4-BDA7-6EA2-21445FDB49FF}"/>
              </a:ext>
            </a:extLst>
          </p:cNvPr>
          <p:cNvSpPr/>
          <p:nvPr/>
        </p:nvSpPr>
        <p:spPr>
          <a:xfrm>
            <a:off x="6578600" y="1828800"/>
            <a:ext cx="558800" cy="55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DBD17F-F16F-37E8-B2A7-28DB6CCA517D}"/>
              </a:ext>
            </a:extLst>
          </p:cNvPr>
          <p:cNvSpPr txBox="1"/>
          <p:nvPr/>
        </p:nvSpPr>
        <p:spPr>
          <a:xfrm>
            <a:off x="6578600" y="1828800"/>
            <a:ext cx="558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FFFFFF"/>
                </a:solidFill>
                <a:latin typeface="맑은 고딕" panose="020B0503020000020004" pitchFamily="50" charset="-127"/>
              </a:rPr>
              <a:t>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010177-4179-0F40-45A6-EA48118AE32D}"/>
              </a:ext>
            </a:extLst>
          </p:cNvPr>
          <p:cNvSpPr txBox="1"/>
          <p:nvPr/>
        </p:nvSpPr>
        <p:spPr>
          <a:xfrm>
            <a:off x="7264400" y="1854200"/>
            <a:ext cx="2540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400" b="1">
                <a:solidFill>
                  <a:srgbClr val="1A1A2E"/>
                </a:solidFill>
                <a:latin typeface="맑은 고딕" panose="020B0503020000020004" pitchFamily="50" charset="-127"/>
              </a:rPr>
              <a:t>남</a:t>
            </a:r>
            <a:r>
              <a:rPr lang="en-US" altLang="ko-KR" sz="1400" b="1">
                <a:solidFill>
                  <a:srgbClr val="1A1A2E"/>
                </a:solidFill>
                <a:latin typeface="맑은 고딕" panose="020B0503020000020004" pitchFamily="50" charset="-127"/>
              </a:rPr>
              <a:t>O</a:t>
            </a:r>
            <a:r>
              <a:rPr lang="ko-KR" altLang="en-US" sz="1400" b="1">
                <a:solidFill>
                  <a:srgbClr val="1A1A2E"/>
                </a:solidFill>
                <a:latin typeface="맑은 고딕" panose="020B0503020000020004" pitchFamily="50" charset="-127"/>
              </a:rPr>
              <a:t>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830ABAC-44DB-D1D9-B89E-298EBF3806A2}"/>
              </a:ext>
            </a:extLst>
          </p:cNvPr>
          <p:cNvSpPr/>
          <p:nvPr/>
        </p:nvSpPr>
        <p:spPr>
          <a:xfrm>
            <a:off x="7950200" y="18796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504558-DE80-D2CE-CEF2-A1C60BC02175}"/>
              </a:ext>
            </a:extLst>
          </p:cNvPr>
          <p:cNvSpPr txBox="1"/>
          <p:nvPr/>
        </p:nvSpPr>
        <p:spPr>
          <a:xfrm>
            <a:off x="7950200" y="1943844"/>
            <a:ext cx="660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3730A3"/>
                </a:solidFill>
                <a:latin typeface="맑은 고딕" panose="020B0503020000020004" pitchFamily="50" charset="-127"/>
              </a:rPr>
              <a:t>구글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7FD76-8145-EA3C-29B7-77F6691AEA9D}"/>
              </a:ext>
            </a:extLst>
          </p:cNvPr>
          <p:cNvSpPr txBox="1"/>
          <p:nvPr/>
        </p:nvSpPr>
        <p:spPr>
          <a:xfrm>
            <a:off x="7264400" y="2133600"/>
            <a:ext cx="304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010-****-1234</a:t>
            </a:r>
            <a:endParaRPr lang="ko-KR" altLang="en-US" sz="95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061E31-22E3-1006-9837-FEBA40D95020}"/>
              </a:ext>
            </a:extLst>
          </p:cNvPr>
          <p:cNvSpPr txBox="1"/>
          <p:nvPr/>
        </p:nvSpPr>
        <p:spPr>
          <a:xfrm>
            <a:off x="6578600" y="25838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가입일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D1AE4B-9CB3-6C0A-8903-DC67DCC93F6A}"/>
              </a:ext>
            </a:extLst>
          </p:cNvPr>
          <p:cNvSpPr txBox="1"/>
          <p:nvPr/>
        </p:nvSpPr>
        <p:spPr>
          <a:xfrm>
            <a:off x="7366000" y="25800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2026-05-20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B28C18-72FF-0D86-2D77-E99D4559ED4F}"/>
              </a:ext>
            </a:extLst>
          </p:cNvPr>
          <p:cNvSpPr txBox="1"/>
          <p:nvPr/>
        </p:nvSpPr>
        <p:spPr>
          <a:xfrm>
            <a:off x="8978900" y="25838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구매횟수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5668FC-4911-871C-D2E8-C59E61E2D8B6}"/>
              </a:ext>
            </a:extLst>
          </p:cNvPr>
          <p:cNvSpPr txBox="1"/>
          <p:nvPr/>
        </p:nvSpPr>
        <p:spPr>
          <a:xfrm>
            <a:off x="9766300" y="25800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50" b="1">
                <a:solidFill>
                  <a:srgbClr val="1F2937"/>
                </a:solidFill>
                <a:latin typeface="맑은 고딕" panose="020B0503020000020004" pitchFamily="50" charset="-127"/>
              </a:rPr>
              <a:t>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120923-2B75-AAC9-84FA-D66599DD98DC}"/>
              </a:ext>
            </a:extLst>
          </p:cNvPr>
          <p:cNvSpPr txBox="1"/>
          <p:nvPr/>
        </p:nvSpPr>
        <p:spPr>
          <a:xfrm>
            <a:off x="6578600" y="28886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누적결제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DBE335-7626-2086-FDB9-1CC63841A2B8}"/>
              </a:ext>
            </a:extLst>
          </p:cNvPr>
          <p:cNvSpPr txBox="1"/>
          <p:nvPr/>
        </p:nvSpPr>
        <p:spPr>
          <a:xfrm>
            <a:off x="7366000" y="28848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 b="1">
                <a:solidFill>
                  <a:srgbClr val="1F2937"/>
                </a:solidFill>
                <a:latin typeface="맑은 고딕" panose="020B0503020000020004" pitchFamily="50" charset="-127"/>
              </a:rPr>
              <a:t>₩ </a:t>
            </a:r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62,900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5D7C4E-F1B9-F63A-F79C-D22C6B7DBA23}"/>
              </a:ext>
            </a:extLst>
          </p:cNvPr>
          <p:cNvSpPr txBox="1"/>
          <p:nvPr/>
        </p:nvSpPr>
        <p:spPr>
          <a:xfrm>
            <a:off x="8978900" y="2888650"/>
            <a:ext cx="889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최근주문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2D7153-2A29-BF8D-A9B1-032E6EA0D2D6}"/>
              </a:ext>
            </a:extLst>
          </p:cNvPr>
          <p:cNvSpPr txBox="1"/>
          <p:nvPr/>
        </p:nvSpPr>
        <p:spPr>
          <a:xfrm>
            <a:off x="9766300" y="2884802"/>
            <a:ext cx="15621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50" b="1">
                <a:solidFill>
                  <a:srgbClr val="1F2937"/>
                </a:solidFill>
                <a:latin typeface="맑은 고딕" panose="020B0503020000020004" pitchFamily="50" charset="-127"/>
              </a:rPr>
              <a:t>06-06</a:t>
            </a:r>
            <a:endParaRPr lang="ko-KR" altLang="en-US" sz="9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0FEC9F-8391-AFF8-EF0E-B0F989B2F412}"/>
              </a:ext>
            </a:extLst>
          </p:cNvPr>
          <p:cNvSpPr txBox="1"/>
          <p:nvPr/>
        </p:nvSpPr>
        <p:spPr>
          <a:xfrm>
            <a:off x="6578600" y="3200400"/>
            <a:ext cx="2540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50" b="1">
                <a:solidFill>
                  <a:srgbClr val="3B6FB5"/>
                </a:solidFill>
                <a:latin typeface="맑은 고딕" panose="020B0503020000020004" pitchFamily="50" charset="-127"/>
              </a:rPr>
              <a:t>구매 이력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F96617F-E311-D1D0-50E5-56D311CFE349}"/>
              </a:ext>
            </a:extLst>
          </p:cNvPr>
          <p:cNvSpPr/>
          <p:nvPr/>
        </p:nvSpPr>
        <p:spPr>
          <a:xfrm>
            <a:off x="6578600" y="3429000"/>
            <a:ext cx="4800600" cy="254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5711A0-E286-7B4B-F7B6-81661AC79D77}"/>
              </a:ext>
            </a:extLst>
          </p:cNvPr>
          <p:cNvSpPr txBox="1"/>
          <p:nvPr/>
        </p:nvSpPr>
        <p:spPr>
          <a:xfrm>
            <a:off x="6680200" y="3502097"/>
            <a:ext cx="1143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FFFFFF"/>
                </a:solidFill>
                <a:latin typeface="맑은 고딕" panose="020B0503020000020004" pitchFamily="50" charset="-127"/>
              </a:rPr>
              <a:t>주문일시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91C4EB-C9C0-76A4-2F57-6AC1593093BB}"/>
              </a:ext>
            </a:extLst>
          </p:cNvPr>
          <p:cNvSpPr txBox="1"/>
          <p:nvPr/>
        </p:nvSpPr>
        <p:spPr>
          <a:xfrm>
            <a:off x="7950200" y="35020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FFFFFF"/>
                </a:solidFill>
                <a:latin typeface="맑은 고딕" panose="020B0503020000020004" pitchFamily="50" charset="-127"/>
              </a:rPr>
              <a:t>상품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48C4FC-A84C-4412-8F0D-EFE6DE524172}"/>
              </a:ext>
            </a:extLst>
          </p:cNvPr>
          <p:cNvSpPr txBox="1"/>
          <p:nvPr/>
        </p:nvSpPr>
        <p:spPr>
          <a:xfrm>
            <a:off x="8928100" y="35020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FFFFFF"/>
                </a:solidFill>
                <a:latin typeface="맑은 고딕" panose="020B0503020000020004" pitchFamily="50" charset="-127"/>
              </a:rPr>
              <a:t>금액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59B59F-5A82-4013-9709-E2844C49C3EF}"/>
              </a:ext>
            </a:extLst>
          </p:cNvPr>
          <p:cNvSpPr txBox="1"/>
          <p:nvPr/>
        </p:nvSpPr>
        <p:spPr>
          <a:xfrm>
            <a:off x="9944100" y="3502097"/>
            <a:ext cx="1143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FFFFFF"/>
                </a:solidFill>
                <a:latin typeface="맑은 고딕" panose="020B0503020000020004" pitchFamily="50" charset="-127"/>
              </a:rPr>
              <a:t>상태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85EABC-F189-8A05-CBAA-2C29C2358ED9}"/>
              </a:ext>
            </a:extLst>
          </p:cNvPr>
          <p:cNvSpPr/>
          <p:nvPr/>
        </p:nvSpPr>
        <p:spPr>
          <a:xfrm>
            <a:off x="6578600" y="39751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D7FB9E-CC96-77D5-F831-04F4E0252EC0}"/>
              </a:ext>
            </a:extLst>
          </p:cNvPr>
          <p:cNvSpPr txBox="1"/>
          <p:nvPr/>
        </p:nvSpPr>
        <p:spPr>
          <a:xfrm>
            <a:off x="6680200" y="3756097"/>
            <a:ext cx="12065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06-06 14:21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DFDD42-85F7-F7A7-D619-B5DC55841395}"/>
              </a:ext>
            </a:extLst>
          </p:cNvPr>
          <p:cNvSpPr txBox="1"/>
          <p:nvPr/>
        </p:nvSpPr>
        <p:spPr>
          <a:xfrm>
            <a:off x="7950200" y="37560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C43FB7-F38B-60F3-360C-058B0DC458B9}"/>
              </a:ext>
            </a:extLst>
          </p:cNvPr>
          <p:cNvSpPr txBox="1"/>
          <p:nvPr/>
        </p:nvSpPr>
        <p:spPr>
          <a:xfrm>
            <a:off x="8928100" y="37560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85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8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7875C96-0EB8-9893-8D67-24177D030A62}"/>
              </a:ext>
            </a:extLst>
          </p:cNvPr>
          <p:cNvSpPr/>
          <p:nvPr/>
        </p:nvSpPr>
        <p:spPr>
          <a:xfrm>
            <a:off x="9944100" y="3733800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70CCE2-B33A-9D91-817B-398D0D528F37}"/>
              </a:ext>
            </a:extLst>
          </p:cNvPr>
          <p:cNvSpPr txBox="1"/>
          <p:nvPr/>
        </p:nvSpPr>
        <p:spPr>
          <a:xfrm>
            <a:off x="9944100" y="3798044"/>
            <a:ext cx="736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B43C720-5139-693E-DBA5-49C633390835}"/>
              </a:ext>
            </a:extLst>
          </p:cNvPr>
          <p:cNvSpPr/>
          <p:nvPr/>
        </p:nvSpPr>
        <p:spPr>
          <a:xfrm>
            <a:off x="6578600" y="42799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C59B02-F5B0-4FCC-0F74-630FC0479B9A}"/>
              </a:ext>
            </a:extLst>
          </p:cNvPr>
          <p:cNvSpPr txBox="1"/>
          <p:nvPr/>
        </p:nvSpPr>
        <p:spPr>
          <a:xfrm>
            <a:off x="6680200" y="4060897"/>
            <a:ext cx="12065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05-28 10:02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37CF9C-E3EC-90F1-F40B-FC4F3B4A59AC}"/>
              </a:ext>
            </a:extLst>
          </p:cNvPr>
          <p:cNvSpPr txBox="1"/>
          <p:nvPr/>
        </p:nvSpPr>
        <p:spPr>
          <a:xfrm>
            <a:off x="7950200" y="40608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1F2937"/>
                </a:solidFill>
                <a:latin typeface="맑은 고딕" panose="020B0503020000020004" pitchFamily="50" charset="-127"/>
              </a:rPr>
              <a:t>프리미엄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E4E3FA-F27E-5407-10C7-A67A3974F8F9}"/>
              </a:ext>
            </a:extLst>
          </p:cNvPr>
          <p:cNvSpPr txBox="1"/>
          <p:nvPr/>
        </p:nvSpPr>
        <p:spPr>
          <a:xfrm>
            <a:off x="8928100" y="40608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850" b="1">
                <a:solidFill>
                  <a:srgbClr val="1F2937"/>
                </a:solidFill>
                <a:latin typeface="맑은 고딕" panose="020B0503020000020004" pitchFamily="50" charset="-127"/>
              </a:rPr>
              <a:t>29,000</a:t>
            </a:r>
            <a:endParaRPr lang="ko-KR" altLang="en-US" sz="8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508CFFB-362C-C05E-3941-C45A89C79B1D}"/>
              </a:ext>
            </a:extLst>
          </p:cNvPr>
          <p:cNvSpPr/>
          <p:nvPr/>
        </p:nvSpPr>
        <p:spPr>
          <a:xfrm>
            <a:off x="9944100" y="40386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D993A6-917C-F3AF-BAF6-6F68E07A041F}"/>
              </a:ext>
            </a:extLst>
          </p:cNvPr>
          <p:cNvSpPr txBox="1"/>
          <p:nvPr/>
        </p:nvSpPr>
        <p:spPr>
          <a:xfrm>
            <a:off x="9944100" y="4102844"/>
            <a:ext cx="660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B91C1C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8E4D176-8E78-B2DD-3C76-65431CFAFD53}"/>
              </a:ext>
            </a:extLst>
          </p:cNvPr>
          <p:cNvSpPr/>
          <p:nvPr/>
        </p:nvSpPr>
        <p:spPr>
          <a:xfrm>
            <a:off x="6578600" y="4584700"/>
            <a:ext cx="48006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465F13-C897-2050-89F5-26DBD8883FBE}"/>
              </a:ext>
            </a:extLst>
          </p:cNvPr>
          <p:cNvSpPr txBox="1"/>
          <p:nvPr/>
        </p:nvSpPr>
        <p:spPr>
          <a:xfrm>
            <a:off x="6680200" y="4365697"/>
            <a:ext cx="12065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850">
                <a:solidFill>
                  <a:srgbClr val="475569"/>
                </a:solidFill>
                <a:latin typeface="맑은 고딕" panose="020B0503020000020004" pitchFamily="50" charset="-127"/>
              </a:rPr>
              <a:t>05-20 18:40</a:t>
            </a:r>
            <a:endParaRPr lang="ko-KR" altLang="en-US" sz="85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12016E-EDCD-692C-7B6E-A83666980EAF}"/>
              </a:ext>
            </a:extLst>
          </p:cNvPr>
          <p:cNvSpPr txBox="1"/>
          <p:nvPr/>
        </p:nvSpPr>
        <p:spPr>
          <a:xfrm>
            <a:off x="7950200" y="43656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>
                <a:solidFill>
                  <a:srgbClr val="1F2937"/>
                </a:solidFill>
                <a:latin typeface="맑은 고딕" panose="020B0503020000020004" pitchFamily="50" charset="-127"/>
              </a:rPr>
              <a:t>셀프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A12F53-3D7F-19B0-4833-0DAC6FB9BF56}"/>
              </a:ext>
            </a:extLst>
          </p:cNvPr>
          <p:cNvSpPr txBox="1"/>
          <p:nvPr/>
        </p:nvSpPr>
        <p:spPr>
          <a:xfrm>
            <a:off x="8928100" y="4365697"/>
            <a:ext cx="1016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850" b="1">
                <a:solidFill>
                  <a:srgbClr val="1F2937"/>
                </a:solidFill>
                <a:latin typeface="맑은 고딕" panose="020B0503020000020004" pitchFamily="50" charset="-127"/>
              </a:rPr>
              <a:t>₩</a:t>
            </a:r>
            <a:r>
              <a:rPr lang="en-US" altLang="ko-KR" sz="850" b="1">
                <a:solidFill>
                  <a:srgbClr val="1F2937"/>
                </a:solidFill>
                <a:latin typeface="맑은 고딕" panose="020B0503020000020004" pitchFamily="50" charset="-127"/>
              </a:rPr>
              <a:t>4,900</a:t>
            </a:r>
            <a:endParaRPr lang="ko-KR" altLang="en-US" sz="850" b="1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62DA1F1-856F-4B0A-1420-F8C1381E07DA}"/>
              </a:ext>
            </a:extLst>
          </p:cNvPr>
          <p:cNvSpPr/>
          <p:nvPr/>
        </p:nvSpPr>
        <p:spPr>
          <a:xfrm>
            <a:off x="9944100" y="4343400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58F61A-62BE-C412-662F-833CE17E5CBB}"/>
              </a:ext>
            </a:extLst>
          </p:cNvPr>
          <p:cNvSpPr txBox="1"/>
          <p:nvPr/>
        </p:nvSpPr>
        <p:spPr>
          <a:xfrm>
            <a:off x="9944100" y="4407644"/>
            <a:ext cx="736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47857"/>
                </a:solidFill>
                <a:latin typeface="맑은 고딕" panose="020B0503020000020004" pitchFamily="50" charset="-127"/>
              </a:rPr>
              <a:t>결제완료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A11E87-6A0F-82D9-612E-6279DCCAD226}"/>
              </a:ext>
            </a:extLst>
          </p:cNvPr>
          <p:cNvSpPr txBox="1"/>
          <p:nvPr/>
        </p:nvSpPr>
        <p:spPr>
          <a:xfrm>
            <a:off x="6578600" y="4648200"/>
            <a:ext cx="4800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각 주문에서 </a:t>
            </a:r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]·[</a:t>
            </a:r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보고서 보기</a:t>
            </a:r>
            <a:r>
              <a:rPr lang="en-US" altLang="ko-KR" sz="850">
                <a:solidFill>
                  <a:srgbClr val="64748B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850">
                <a:solidFill>
                  <a:srgbClr val="64748B"/>
                </a:solidFill>
                <a:latin typeface="맑은 고딕" panose="020B0503020000020004" pitchFamily="50" charset="-127"/>
              </a:rPr>
              <a:t>가능 → 통합 상세로 이동</a:t>
            </a:r>
          </a:p>
        </p:txBody>
      </p:sp>
    </p:spTree>
    <p:extLst>
      <p:ext uri="{BB962C8B-B14F-4D97-AF65-F5344CB8AC3E}">
        <p14:creationId xmlns:p14="http://schemas.microsoft.com/office/powerpoint/2010/main" val="1632840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78058B-DACD-7707-8C4A-826500DB14A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D5413-8AA2-585B-7145-3818E8B52B39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06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데이터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보안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9EE9F-5E3D-BEDF-A99B-222B6B18D1C8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운영 데이터 정의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회원 중심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FFF7B-CBBB-E537-F449-A5DEC81FC3E1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99FEC-FB10-0815-429A-27FF60A525AC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13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BD6D43-1C56-854D-1C7A-8A87ABD28DE7}"/>
              </a:ext>
            </a:extLst>
          </p:cNvPr>
          <p:cNvSpPr/>
          <p:nvPr/>
        </p:nvSpPr>
        <p:spPr>
          <a:xfrm>
            <a:off x="609600" y="14732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22AD45-7453-0F6D-33EB-7F78EF80753B}"/>
              </a:ext>
            </a:extLst>
          </p:cNvPr>
          <p:cNvSpPr/>
          <p:nvPr/>
        </p:nvSpPr>
        <p:spPr>
          <a:xfrm>
            <a:off x="609600" y="1473200"/>
            <a:ext cx="76200" cy="14224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2FDFF-90BE-37A2-95EC-725BBF2D45F3}"/>
              </a:ext>
            </a:extLst>
          </p:cNvPr>
          <p:cNvSpPr txBox="1"/>
          <p:nvPr/>
        </p:nvSpPr>
        <p:spPr>
          <a:xfrm>
            <a:off x="889000" y="1625600"/>
            <a:ext cx="368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회원 </a:t>
            </a:r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(member) </a:t>
            </a:r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신규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23F5C03-E4FD-99B8-7122-BE566693D6B7}"/>
              </a:ext>
            </a:extLst>
          </p:cNvPr>
          <p:cNvSpPr/>
          <p:nvPr/>
        </p:nvSpPr>
        <p:spPr>
          <a:xfrm>
            <a:off x="5359400" y="1651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D5F29-933C-1752-9C89-8D0684F8CA35}"/>
              </a:ext>
            </a:extLst>
          </p:cNvPr>
          <p:cNvSpPr txBox="1"/>
          <p:nvPr/>
        </p:nvSpPr>
        <p:spPr>
          <a:xfrm>
            <a:off x="5359400" y="1715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CAC7F-81CA-530E-677B-44243A1D52E9}"/>
              </a:ext>
            </a:extLst>
          </p:cNvPr>
          <p:cNvSpPr txBox="1"/>
          <p:nvPr/>
        </p:nvSpPr>
        <p:spPr>
          <a:xfrm>
            <a:off x="889000" y="1955800"/>
            <a:ext cx="4953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가입일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연락처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로그인수단
구매횟수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누적결제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최근주문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4DFABA-D115-8AE2-A845-0C04C75FB780}"/>
              </a:ext>
            </a:extLst>
          </p:cNvPr>
          <p:cNvSpPr/>
          <p:nvPr/>
        </p:nvSpPr>
        <p:spPr>
          <a:xfrm>
            <a:off x="889000" y="2540000"/>
            <a:ext cx="4902200" cy="25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5AE05-67C3-8A2A-4922-7403B7904B9B}"/>
              </a:ext>
            </a:extLst>
          </p:cNvPr>
          <p:cNvSpPr txBox="1"/>
          <p:nvPr/>
        </p:nvSpPr>
        <p:spPr>
          <a:xfrm>
            <a:off x="990600" y="2609250"/>
            <a:ext cx="482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용도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회원 관리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E4F1C31-0CA3-2DBC-FB90-A2DA68AF4FAB}"/>
              </a:ext>
            </a:extLst>
          </p:cNvPr>
          <p:cNvSpPr/>
          <p:nvPr/>
        </p:nvSpPr>
        <p:spPr>
          <a:xfrm>
            <a:off x="6273800" y="14732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E9FD73-E0A7-B631-BB4D-D81F0567F9C6}"/>
              </a:ext>
            </a:extLst>
          </p:cNvPr>
          <p:cNvSpPr/>
          <p:nvPr/>
        </p:nvSpPr>
        <p:spPr>
          <a:xfrm>
            <a:off x="6273800" y="1473200"/>
            <a:ext cx="76200" cy="1422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8412F-5AD8-86C2-ACFD-D6C49B59E1C8}"/>
              </a:ext>
            </a:extLst>
          </p:cNvPr>
          <p:cNvSpPr txBox="1"/>
          <p:nvPr/>
        </p:nvSpPr>
        <p:spPr>
          <a:xfrm>
            <a:off x="6553200" y="1625600"/>
            <a:ext cx="368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주문 </a:t>
            </a:r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(order)</a:t>
            </a:r>
            <a:endParaRPr lang="ko-KR" altLang="en-US" sz="130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B14B6E-C92C-F3F4-20CA-9453E3A8B1F9}"/>
              </a:ext>
            </a:extLst>
          </p:cNvPr>
          <p:cNvSpPr/>
          <p:nvPr/>
        </p:nvSpPr>
        <p:spPr>
          <a:xfrm>
            <a:off x="11023600" y="16510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48E9F-AF3D-AE01-A9C2-E7F03493B660}"/>
              </a:ext>
            </a:extLst>
          </p:cNvPr>
          <p:cNvSpPr txBox="1"/>
          <p:nvPr/>
        </p:nvSpPr>
        <p:spPr>
          <a:xfrm>
            <a:off x="11023600" y="17152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C2E953-1290-EDAD-C77E-10DC228CA9D9}"/>
              </a:ext>
            </a:extLst>
          </p:cNvPr>
          <p:cNvSpPr txBox="1"/>
          <p:nvPr/>
        </p:nvSpPr>
        <p:spPr>
          <a:xfrm>
            <a:off x="6553200" y="1955800"/>
            <a:ext cx="4953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주문일시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회원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상품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금액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상태
토스 결제정보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30BD1F9-E53E-71C1-A86A-943C8DE8ADAA}"/>
              </a:ext>
            </a:extLst>
          </p:cNvPr>
          <p:cNvSpPr/>
          <p:nvPr/>
        </p:nvSpPr>
        <p:spPr>
          <a:xfrm>
            <a:off x="6553200" y="2540000"/>
            <a:ext cx="4902200" cy="25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8557D4-255F-3B00-AF81-E349016E3577}"/>
              </a:ext>
            </a:extLst>
          </p:cNvPr>
          <p:cNvSpPr txBox="1"/>
          <p:nvPr/>
        </p:nvSpPr>
        <p:spPr>
          <a:xfrm>
            <a:off x="6654800" y="2609250"/>
            <a:ext cx="482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용도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환불 관리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B76082-010E-5AC1-68FE-A3A9F9419298}"/>
              </a:ext>
            </a:extLst>
          </p:cNvPr>
          <p:cNvSpPr/>
          <p:nvPr/>
        </p:nvSpPr>
        <p:spPr>
          <a:xfrm>
            <a:off x="609600" y="30480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E4F022-CED3-B73B-EC8F-D46071F3FFF9}"/>
              </a:ext>
            </a:extLst>
          </p:cNvPr>
          <p:cNvSpPr/>
          <p:nvPr/>
        </p:nvSpPr>
        <p:spPr>
          <a:xfrm>
            <a:off x="609600" y="3048000"/>
            <a:ext cx="76200" cy="1422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824127-304F-7D9D-95A3-196293FFE6DB}"/>
              </a:ext>
            </a:extLst>
          </p:cNvPr>
          <p:cNvSpPr txBox="1"/>
          <p:nvPr/>
        </p:nvSpPr>
        <p:spPr>
          <a:xfrm>
            <a:off x="889000" y="3200400"/>
            <a:ext cx="368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보고서 </a:t>
            </a:r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(report)</a:t>
            </a:r>
            <a:endParaRPr lang="ko-KR" altLang="en-US" sz="130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9DCBB2D-2104-2001-9F2F-14EB22458BA2}"/>
              </a:ext>
            </a:extLst>
          </p:cNvPr>
          <p:cNvSpPr/>
          <p:nvPr/>
        </p:nvSpPr>
        <p:spPr>
          <a:xfrm>
            <a:off x="5359400" y="32258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ECFAF8-01EA-65EB-B2D9-98293CC0D697}"/>
              </a:ext>
            </a:extLst>
          </p:cNvPr>
          <p:cNvSpPr txBox="1"/>
          <p:nvPr/>
        </p:nvSpPr>
        <p:spPr>
          <a:xfrm>
            <a:off x="5359400" y="32900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CE08A0-1A39-4C58-7790-17BFA6791C9D}"/>
              </a:ext>
            </a:extLst>
          </p:cNvPr>
          <p:cNvSpPr txBox="1"/>
          <p:nvPr/>
        </p:nvSpPr>
        <p:spPr>
          <a:xfrm>
            <a:off x="889000" y="3530600"/>
            <a:ext cx="4953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연결 주문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한글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한자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)
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생년월일시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점수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보고서 전체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D76C19B-9FD5-C3D2-5EC8-AFC157DF9B95}"/>
              </a:ext>
            </a:extLst>
          </p:cNvPr>
          <p:cNvSpPr/>
          <p:nvPr/>
        </p:nvSpPr>
        <p:spPr>
          <a:xfrm>
            <a:off x="889000" y="4114800"/>
            <a:ext cx="4902200" cy="25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22374A-F747-F145-8C6C-86F441BF0321}"/>
              </a:ext>
            </a:extLst>
          </p:cNvPr>
          <p:cNvSpPr txBox="1"/>
          <p:nvPr/>
        </p:nvSpPr>
        <p:spPr>
          <a:xfrm>
            <a:off x="990600" y="4184050"/>
            <a:ext cx="482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용도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재발급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E2BAA63-5EA5-400E-AA60-D051D3CB23A4}"/>
              </a:ext>
            </a:extLst>
          </p:cNvPr>
          <p:cNvSpPr/>
          <p:nvPr/>
        </p:nvSpPr>
        <p:spPr>
          <a:xfrm>
            <a:off x="6273800" y="30480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A7789F1-F0AE-0B1C-41F3-08B8EA1CB0B2}"/>
              </a:ext>
            </a:extLst>
          </p:cNvPr>
          <p:cNvSpPr/>
          <p:nvPr/>
        </p:nvSpPr>
        <p:spPr>
          <a:xfrm>
            <a:off x="6273800" y="3048000"/>
            <a:ext cx="76200" cy="1422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DEC41-4EFD-527F-B2E9-4EB7DBEF0114}"/>
              </a:ext>
            </a:extLst>
          </p:cNvPr>
          <p:cNvSpPr txBox="1"/>
          <p:nvPr/>
        </p:nvSpPr>
        <p:spPr>
          <a:xfrm>
            <a:off x="6553200" y="3200400"/>
            <a:ext cx="368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사용 </a:t>
            </a:r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(ai_usage)</a:t>
            </a:r>
            <a:endParaRPr lang="ko-KR" altLang="en-US" sz="130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4EEB8C8-97F4-38C6-615E-9D121C0B3AF2}"/>
              </a:ext>
            </a:extLst>
          </p:cNvPr>
          <p:cNvSpPr/>
          <p:nvPr/>
        </p:nvSpPr>
        <p:spPr>
          <a:xfrm>
            <a:off x="11023600" y="32258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6D45E9-0F15-80A5-AC3A-0DBB1F964129}"/>
              </a:ext>
            </a:extLst>
          </p:cNvPr>
          <p:cNvSpPr txBox="1"/>
          <p:nvPr/>
        </p:nvSpPr>
        <p:spPr>
          <a:xfrm>
            <a:off x="11023600" y="32900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8F978B-7005-8BB5-BEDC-154CB661F6D1}"/>
              </a:ext>
            </a:extLst>
          </p:cNvPr>
          <p:cNvSpPr txBox="1"/>
          <p:nvPr/>
        </p:nvSpPr>
        <p:spPr>
          <a:xfrm>
            <a:off x="6553200" y="3530600"/>
            <a:ext cx="4953000" cy="3334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호출 시각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종류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모델
토큰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추정 비용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65AC1B9-A843-93E2-7BC7-1092B0F993E7}"/>
              </a:ext>
            </a:extLst>
          </p:cNvPr>
          <p:cNvSpPr/>
          <p:nvPr/>
        </p:nvSpPr>
        <p:spPr>
          <a:xfrm>
            <a:off x="6553200" y="4114800"/>
            <a:ext cx="4902200" cy="25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CBEA79-8750-9BF6-D128-F18412D70593}"/>
              </a:ext>
            </a:extLst>
          </p:cNvPr>
          <p:cNvSpPr txBox="1"/>
          <p:nvPr/>
        </p:nvSpPr>
        <p:spPr>
          <a:xfrm>
            <a:off x="6654800" y="4184050"/>
            <a:ext cx="482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용도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비용 모니터링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0716AE6-3387-5248-ADEC-22C832691D63}"/>
              </a:ext>
            </a:extLst>
          </p:cNvPr>
          <p:cNvSpPr/>
          <p:nvPr/>
        </p:nvSpPr>
        <p:spPr>
          <a:xfrm>
            <a:off x="609600" y="46228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21E94DE-5CCF-C5C1-BBA9-82296BACBA0D}"/>
              </a:ext>
            </a:extLst>
          </p:cNvPr>
          <p:cNvSpPr/>
          <p:nvPr/>
        </p:nvSpPr>
        <p:spPr>
          <a:xfrm>
            <a:off x="609600" y="4622800"/>
            <a:ext cx="76200" cy="1422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82E5E2-609F-9EA4-91F9-9A1E3146055C}"/>
              </a:ext>
            </a:extLst>
          </p:cNvPr>
          <p:cNvSpPr txBox="1"/>
          <p:nvPr/>
        </p:nvSpPr>
        <p:spPr>
          <a:xfrm>
            <a:off x="889000" y="4775200"/>
            <a:ext cx="368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이벤트 </a:t>
            </a:r>
            <a:r>
              <a:rPr lang="en-US" altLang="ko-KR" sz="1300" b="1">
                <a:solidFill>
                  <a:srgbClr val="1E2761"/>
                </a:solidFill>
                <a:latin typeface="맑은 고딕" panose="020B0503020000020004" pitchFamily="50" charset="-127"/>
              </a:rPr>
              <a:t>(event)</a:t>
            </a:r>
            <a:endParaRPr lang="ko-KR" altLang="en-US" sz="130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0480A00-BE70-72FD-F3A1-BE7D6F7D0673}"/>
              </a:ext>
            </a:extLst>
          </p:cNvPr>
          <p:cNvSpPr/>
          <p:nvPr/>
        </p:nvSpPr>
        <p:spPr>
          <a:xfrm>
            <a:off x="5359400" y="4800600"/>
            <a:ext cx="5588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31D2CF-E3E0-C487-88E9-975460A40751}"/>
              </a:ext>
            </a:extLst>
          </p:cNvPr>
          <p:cNvSpPr txBox="1"/>
          <p:nvPr/>
        </p:nvSpPr>
        <p:spPr>
          <a:xfrm>
            <a:off x="5359400" y="4864844"/>
            <a:ext cx="5588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DD8C5-781D-AB82-1ADC-A168434E7529}"/>
              </a:ext>
            </a:extLst>
          </p:cNvPr>
          <p:cNvSpPr txBox="1"/>
          <p:nvPr/>
        </p:nvSpPr>
        <p:spPr>
          <a:xfrm>
            <a:off x="889000" y="5105400"/>
            <a:ext cx="4953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단계명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익명 세션</a:t>
            </a:r>
            <a:r>
              <a:rPr lang="en-US" altLang="ko-KR" sz="1000">
                <a:solidFill>
                  <a:srgbClr val="334155"/>
                </a:solidFill>
                <a:latin typeface="맑은 고딕" panose="020B0503020000020004" pitchFamily="50" charset="-127"/>
              </a:rPr>
              <a:t>ID·</a:t>
            </a:r>
            <a:r>
              <a:rPr lang="ko-KR" altLang="en-US" sz="1000">
                <a:solidFill>
                  <a:srgbClr val="334155"/>
                </a:solidFill>
                <a:latin typeface="맑은 고딕" panose="020B0503020000020004" pitchFamily="50" charset="-127"/>
              </a:rPr>
              <a:t>시각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710732-272B-9684-6C92-999912696993}"/>
              </a:ext>
            </a:extLst>
          </p:cNvPr>
          <p:cNvSpPr/>
          <p:nvPr/>
        </p:nvSpPr>
        <p:spPr>
          <a:xfrm>
            <a:off x="889000" y="5689600"/>
            <a:ext cx="4902200" cy="254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F8F885-A503-5A01-8614-A184BD9E8F7A}"/>
              </a:ext>
            </a:extLst>
          </p:cNvPr>
          <p:cNvSpPr txBox="1"/>
          <p:nvPr/>
        </p:nvSpPr>
        <p:spPr>
          <a:xfrm>
            <a:off x="990600" y="5758850"/>
            <a:ext cx="482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용도</a:t>
            </a:r>
            <a:r>
              <a:rPr lang="en-US" altLang="ko-KR" sz="900" b="1">
                <a:solidFill>
                  <a:srgbClr val="64748B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900" b="1">
                <a:solidFill>
                  <a:srgbClr val="64748B"/>
                </a:solidFill>
                <a:latin typeface="맑은 고딕" panose="020B0503020000020004" pitchFamily="50" charset="-127"/>
              </a:rPr>
              <a:t>전환율 통계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58B5A33-E744-EAFB-1F26-4455FADE58DC}"/>
              </a:ext>
            </a:extLst>
          </p:cNvPr>
          <p:cNvSpPr/>
          <p:nvPr/>
        </p:nvSpPr>
        <p:spPr>
          <a:xfrm>
            <a:off x="6273800" y="4622800"/>
            <a:ext cx="5461000" cy="14224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0C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B92ACD-620F-A281-91A1-E5B279F9AE1E}"/>
              </a:ext>
            </a:extLst>
          </p:cNvPr>
          <p:cNvSpPr txBox="1"/>
          <p:nvPr/>
        </p:nvSpPr>
        <p:spPr>
          <a:xfrm>
            <a:off x="6502400" y="4775200"/>
            <a:ext cx="5080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7A5B00"/>
                </a:solidFill>
                <a:latin typeface="맑은 고딕" panose="020B0503020000020004" pitchFamily="50" charset="-127"/>
              </a:rPr>
              <a:t>⚠️ 개인정보 주의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26AA8D-FCD8-0680-22EB-4FB8A930E4C2}"/>
              </a:ext>
            </a:extLst>
          </p:cNvPr>
          <p:cNvSpPr txBox="1"/>
          <p:nvPr/>
        </p:nvSpPr>
        <p:spPr>
          <a:xfrm>
            <a:off x="6502400" y="5080000"/>
            <a:ext cx="5054600" cy="3180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회원 이름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연락처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보고서의 생년월일시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아이 이름은 민감 개인정보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.
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최소 수집 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운영자 한정 접근 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목록 마스킹 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7A5B00"/>
                </a:solidFill>
                <a:latin typeface="맑은 고딕" panose="020B0503020000020004" pitchFamily="50" charset="-127"/>
              </a:rPr>
              <a:t>보관기간 정책 필요</a:t>
            </a:r>
            <a:r>
              <a:rPr lang="en-US" altLang="ko-KR" sz="950">
                <a:solidFill>
                  <a:srgbClr val="7A5B00"/>
                </a:solidFill>
                <a:latin typeface="맑은 고딕" panose="020B0503020000020004" pitchFamily="50" charset="-127"/>
              </a:rPr>
              <a:t>.</a:t>
            </a:r>
            <a:endParaRPr lang="ko-KR" altLang="en-US" sz="950">
              <a:solidFill>
                <a:srgbClr val="7A5B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697E2D-99E0-876C-05CE-4C5460543B19}"/>
              </a:ext>
            </a:extLst>
          </p:cNvPr>
          <p:cNvSpPr txBox="1"/>
          <p:nvPr/>
        </p:nvSpPr>
        <p:spPr>
          <a:xfrm>
            <a:off x="609600" y="6146800"/>
            <a:ext cx="10972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50">
                <a:solidFill>
                  <a:srgbClr val="64748B"/>
                </a:solidFill>
                <a:latin typeface="맑은 고딕" panose="020B0503020000020004" pitchFamily="50" charset="-127"/>
              </a:rPr>
              <a:t>연결</a:t>
            </a:r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50">
                <a:solidFill>
                  <a:srgbClr val="64748B"/>
                </a:solidFill>
                <a:latin typeface="맑은 고딕" panose="020B0503020000020004" pitchFamily="50" charset="-127"/>
              </a:rPr>
              <a:t>회원 </a:t>
            </a:r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1 — N </a:t>
            </a:r>
            <a:r>
              <a:rPr lang="ko-KR" altLang="en-US" sz="950">
                <a:solidFill>
                  <a:srgbClr val="64748B"/>
                </a:solidFill>
                <a:latin typeface="맑은 고딕" panose="020B0503020000020004" pitchFamily="50" charset="-127"/>
              </a:rPr>
              <a:t>주문 </a:t>
            </a:r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1 — 1 </a:t>
            </a:r>
            <a:r>
              <a:rPr lang="ko-KR" altLang="en-US" sz="950">
                <a:solidFill>
                  <a:srgbClr val="64748B"/>
                </a:solidFill>
                <a:latin typeface="맑은 고딕" panose="020B0503020000020004" pitchFamily="50" charset="-127"/>
              </a:rPr>
              <a:t>보고서  </a:t>
            </a:r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·  </a:t>
            </a:r>
            <a:r>
              <a:rPr lang="ko-KR" altLang="en-US" sz="950">
                <a:solidFill>
                  <a:srgbClr val="64748B"/>
                </a:solidFill>
                <a:latin typeface="맑은 고딕" panose="020B0503020000020004" pitchFamily="50" charset="-127"/>
              </a:rPr>
              <a:t>통합 상세는 이 연결을 따라 한 화면에 묶어 보여준다</a:t>
            </a:r>
            <a:r>
              <a:rPr lang="en-US" altLang="ko-KR" sz="95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95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359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885790-050D-8A99-FA72-A75E28280FA9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86CC6-0A41-D4EE-C225-B5234E5C0023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06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데이터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보안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EC392-3E13-06ED-404B-0BDBBED356F7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운영 데이터 상세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필드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관계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74DD-6F99-AB9D-16C4-3B25C31A2FAC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9E73E-D177-0E81-5810-F4522B7AC967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14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8A040E-241D-04BA-0408-20233064911E}"/>
              </a:ext>
            </a:extLst>
          </p:cNvPr>
          <p:cNvSpPr/>
          <p:nvPr/>
        </p:nvSpPr>
        <p:spPr>
          <a:xfrm>
            <a:off x="762000" y="1676400"/>
            <a:ext cx="32004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55254A-4A6F-B987-4BB8-A655A9166C9A}"/>
              </a:ext>
            </a:extLst>
          </p:cNvPr>
          <p:cNvSpPr/>
          <p:nvPr/>
        </p:nvSpPr>
        <p:spPr>
          <a:xfrm>
            <a:off x="762000" y="1676400"/>
            <a:ext cx="3200400" cy="3810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66D55-06D0-01FB-B0E3-42CB54C4656F}"/>
              </a:ext>
            </a:extLst>
          </p:cNvPr>
          <p:cNvSpPr txBox="1"/>
          <p:nvPr/>
        </p:nvSpPr>
        <p:spPr>
          <a:xfrm>
            <a:off x="762000" y="1722566"/>
            <a:ext cx="32004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members  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회원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B68EF-5328-A285-0871-BD572B154354}"/>
              </a:ext>
            </a:extLst>
          </p:cNvPr>
          <p:cNvSpPr txBox="1"/>
          <p:nvPr/>
        </p:nvSpPr>
        <p:spPr>
          <a:xfrm>
            <a:off x="939800" y="2159000"/>
            <a:ext cx="2921000" cy="90281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id (PK)
created_at 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가입일
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name · contact  (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개인정보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)
login_provider
order_count · total_spent
last_order_at</a:t>
            </a:r>
            <a:endParaRPr lang="ko-KR" altLang="en-US" sz="9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8A58AE1-FF95-F6A8-64FC-8307141BB64B}"/>
              </a:ext>
            </a:extLst>
          </p:cNvPr>
          <p:cNvSpPr/>
          <p:nvPr/>
        </p:nvSpPr>
        <p:spPr>
          <a:xfrm>
            <a:off x="4445000" y="1676400"/>
            <a:ext cx="32004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DD9648-2DC5-742F-A908-F5DEFB75E97B}"/>
              </a:ext>
            </a:extLst>
          </p:cNvPr>
          <p:cNvSpPr/>
          <p:nvPr/>
        </p:nvSpPr>
        <p:spPr>
          <a:xfrm>
            <a:off x="4445000" y="1676400"/>
            <a:ext cx="3200400" cy="381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FA397-D434-E0A9-A802-EB9DEEF0AACF}"/>
              </a:ext>
            </a:extLst>
          </p:cNvPr>
          <p:cNvSpPr txBox="1"/>
          <p:nvPr/>
        </p:nvSpPr>
        <p:spPr>
          <a:xfrm>
            <a:off x="4445000" y="1722566"/>
            <a:ext cx="32004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orders  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주문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9843B-1231-13C8-9EE7-D25D1F93CD3B}"/>
              </a:ext>
            </a:extLst>
          </p:cNvPr>
          <p:cNvSpPr txBox="1"/>
          <p:nvPr/>
        </p:nvSpPr>
        <p:spPr>
          <a:xfrm>
            <a:off x="4622800" y="2159000"/>
            <a:ext cx="2921000" cy="90281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id (PK)
created_at
member_id (FK)
product · amount · status
toss_order_id / payment_key
refunded_at</a:t>
            </a:r>
            <a:endParaRPr lang="ko-KR" altLang="en-US" sz="9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A833B3D-3EB3-0714-606B-2EA90AAE9352}"/>
              </a:ext>
            </a:extLst>
          </p:cNvPr>
          <p:cNvSpPr/>
          <p:nvPr/>
        </p:nvSpPr>
        <p:spPr>
          <a:xfrm>
            <a:off x="8128000" y="1676400"/>
            <a:ext cx="32004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24BF94-AC86-531D-8172-B2E590F8FF8D}"/>
              </a:ext>
            </a:extLst>
          </p:cNvPr>
          <p:cNvSpPr/>
          <p:nvPr/>
        </p:nvSpPr>
        <p:spPr>
          <a:xfrm>
            <a:off x="8128000" y="1676400"/>
            <a:ext cx="3200400" cy="381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7A53-9E8D-C2F5-3FA5-629D7D4FB5A7}"/>
              </a:ext>
            </a:extLst>
          </p:cNvPr>
          <p:cNvSpPr txBox="1"/>
          <p:nvPr/>
        </p:nvSpPr>
        <p:spPr>
          <a:xfrm>
            <a:off x="8128000" y="1722566"/>
            <a:ext cx="32004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reports  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77CA9-204F-AE2C-FCCC-562305C80D15}"/>
              </a:ext>
            </a:extLst>
          </p:cNvPr>
          <p:cNvSpPr txBox="1"/>
          <p:nvPr/>
        </p:nvSpPr>
        <p:spPr>
          <a:xfrm>
            <a:off x="8305800" y="2159000"/>
            <a:ext cx="2921000" cy="90281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id (PK)
order_id (FK)
baby_name_kr / hanja
birth_dt  (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개인정보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)
score
report_json (jsonb)</a:t>
            </a:r>
            <a:endParaRPr lang="ko-KR" altLang="en-US" sz="9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C82193-C98D-42AE-F157-67974EC6D598}"/>
              </a:ext>
            </a:extLst>
          </p:cNvPr>
          <p:cNvCxnSpPr/>
          <p:nvPr/>
        </p:nvCxnSpPr>
        <p:spPr>
          <a:xfrm>
            <a:off x="3962400" y="18669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24D150-4A52-468C-9B9B-3632AB4A3C6F}"/>
              </a:ext>
            </a:extLst>
          </p:cNvPr>
          <p:cNvSpPr txBox="1"/>
          <p:nvPr/>
        </p:nvSpPr>
        <p:spPr>
          <a:xfrm>
            <a:off x="3759200" y="1905000"/>
            <a:ext cx="889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50" b="1">
                <a:solidFill>
                  <a:srgbClr val="3B6FB5"/>
                </a:solidFill>
                <a:latin typeface="맑은 고딕" panose="020B0503020000020004" pitchFamily="50" charset="-127"/>
              </a:rPr>
              <a:t>1 — N</a:t>
            </a:r>
            <a:endParaRPr lang="ko-KR" altLang="en-US" sz="85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32CD3F6-C3E2-EB66-1CE4-B9BD52EB3E26}"/>
              </a:ext>
            </a:extLst>
          </p:cNvPr>
          <p:cNvCxnSpPr/>
          <p:nvPr/>
        </p:nvCxnSpPr>
        <p:spPr>
          <a:xfrm>
            <a:off x="7645400" y="1866900"/>
            <a:ext cx="48260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261DC58-DB32-04D4-5065-38FD7A6C261D}"/>
              </a:ext>
            </a:extLst>
          </p:cNvPr>
          <p:cNvSpPr txBox="1"/>
          <p:nvPr/>
        </p:nvSpPr>
        <p:spPr>
          <a:xfrm>
            <a:off x="7442200" y="1905000"/>
            <a:ext cx="889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ko-KR" sz="850" b="1">
                <a:solidFill>
                  <a:srgbClr val="3B6FB5"/>
                </a:solidFill>
                <a:latin typeface="맑은 고딕" panose="020B0503020000020004" pitchFamily="50" charset="-127"/>
              </a:rPr>
              <a:t>1 — 1</a:t>
            </a:r>
            <a:endParaRPr lang="ko-KR" altLang="en-US" sz="85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7D5513-0F9C-B099-8686-8F9B05890FC7}"/>
              </a:ext>
            </a:extLst>
          </p:cNvPr>
          <p:cNvSpPr/>
          <p:nvPr/>
        </p:nvSpPr>
        <p:spPr>
          <a:xfrm>
            <a:off x="762000" y="4267200"/>
            <a:ext cx="35052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DA6BFC-1362-02BF-566C-D2B1396B01C0}"/>
              </a:ext>
            </a:extLst>
          </p:cNvPr>
          <p:cNvSpPr/>
          <p:nvPr/>
        </p:nvSpPr>
        <p:spPr>
          <a:xfrm>
            <a:off x="762000" y="4267200"/>
            <a:ext cx="76200" cy="11684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03111E-01E0-DA9A-464D-696F0F1944D4}"/>
              </a:ext>
            </a:extLst>
          </p:cNvPr>
          <p:cNvSpPr txBox="1"/>
          <p:nvPr/>
        </p:nvSpPr>
        <p:spPr>
          <a:xfrm>
            <a:off x="990600" y="4419600"/>
            <a:ext cx="3149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audit_logs  </a:t>
            </a:r>
            <a:r>
              <a:rPr lang="ko-KR" altLang="en-US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감사로그 </a:t>
            </a:r>
            <a:r>
              <a:rPr lang="en-US" altLang="ko-KR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)</a:t>
            </a:r>
            <a:endParaRPr lang="ko-KR" altLang="en-US" sz="11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24DC26-4FAA-DE51-41FF-9424A037B6FA}"/>
              </a:ext>
            </a:extLst>
          </p:cNvPr>
          <p:cNvSpPr txBox="1"/>
          <p:nvPr/>
        </p:nvSpPr>
        <p:spPr>
          <a:xfrm>
            <a:off x="990600" y="4749800"/>
            <a:ext cx="312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334155"/>
                </a:solidFill>
                <a:latin typeface="맑은 고딕" panose="020B0503020000020004" pitchFamily="50" charset="-127"/>
              </a:rPr>
              <a:t>actor · action · target · detail
</a:t>
            </a:r>
            <a:r>
              <a:rPr lang="ko-KR" altLang="en-US" sz="900">
                <a:solidFill>
                  <a:srgbClr val="334155"/>
                </a:solidFill>
                <a:latin typeface="맑은 고딕" panose="020B0503020000020004" pitchFamily="50" charset="-127"/>
              </a:rPr>
              <a:t>환불 등 민감작업 추적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4DC15A-FA98-15A2-B5F2-66A0E6C4700F}"/>
              </a:ext>
            </a:extLst>
          </p:cNvPr>
          <p:cNvSpPr/>
          <p:nvPr/>
        </p:nvSpPr>
        <p:spPr>
          <a:xfrm>
            <a:off x="4419600" y="4267200"/>
            <a:ext cx="35052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611795-63F8-5C7B-773C-9B5102316F20}"/>
              </a:ext>
            </a:extLst>
          </p:cNvPr>
          <p:cNvSpPr/>
          <p:nvPr/>
        </p:nvSpPr>
        <p:spPr>
          <a:xfrm>
            <a:off x="4419600" y="4267200"/>
            <a:ext cx="76200" cy="1168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B6FC7E-E36F-935A-B66A-F11E79A868AF}"/>
              </a:ext>
            </a:extLst>
          </p:cNvPr>
          <p:cNvSpPr txBox="1"/>
          <p:nvPr/>
        </p:nvSpPr>
        <p:spPr>
          <a:xfrm>
            <a:off x="4648200" y="4419600"/>
            <a:ext cx="3149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ai_usage</a:t>
            </a:r>
            <a:endParaRPr lang="ko-KR" altLang="en-US" sz="11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FB9DE-52FD-CCFE-360A-9BF4F9890070}"/>
              </a:ext>
            </a:extLst>
          </p:cNvPr>
          <p:cNvSpPr txBox="1"/>
          <p:nvPr/>
        </p:nvSpPr>
        <p:spPr>
          <a:xfrm>
            <a:off x="4648200" y="4749800"/>
            <a:ext cx="312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334155"/>
                </a:solidFill>
                <a:latin typeface="맑은 고딕" panose="020B0503020000020004" pitchFamily="50" charset="-127"/>
              </a:rPr>
              <a:t>kind · model · tokens · est_cost
</a:t>
            </a:r>
            <a:r>
              <a:rPr lang="ko-KR" altLang="en-US" sz="900">
                <a:solidFill>
                  <a:srgbClr val="334155"/>
                </a:solidFill>
                <a:latin typeface="맑은 고딕" panose="020B0503020000020004" pitchFamily="50" charset="-127"/>
              </a:rPr>
              <a:t>비용 모니터링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3427B6-41DE-BB92-D5D7-326774701BC6}"/>
              </a:ext>
            </a:extLst>
          </p:cNvPr>
          <p:cNvSpPr/>
          <p:nvPr/>
        </p:nvSpPr>
        <p:spPr>
          <a:xfrm>
            <a:off x="8077200" y="4267200"/>
            <a:ext cx="35052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C74EDE-980D-C5F9-04A8-205578775525}"/>
              </a:ext>
            </a:extLst>
          </p:cNvPr>
          <p:cNvSpPr/>
          <p:nvPr/>
        </p:nvSpPr>
        <p:spPr>
          <a:xfrm>
            <a:off x="8077200" y="4267200"/>
            <a:ext cx="76200" cy="11684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20EC9E-CC12-02D5-2F84-B4262160B114}"/>
              </a:ext>
            </a:extLst>
          </p:cNvPr>
          <p:cNvSpPr txBox="1"/>
          <p:nvPr/>
        </p:nvSpPr>
        <p:spPr>
          <a:xfrm>
            <a:off x="8305800" y="4419600"/>
            <a:ext cx="31496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 b="1">
                <a:solidFill>
                  <a:srgbClr val="1E2761"/>
                </a:solidFill>
                <a:latin typeface="맑은 고딕" panose="020B0503020000020004" pitchFamily="50" charset="-127"/>
              </a:rPr>
              <a:t>events</a:t>
            </a:r>
            <a:endParaRPr lang="ko-KR" altLang="en-US" sz="1150" b="1">
              <a:solidFill>
                <a:srgbClr val="1E276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DD1423-8512-A663-ADC7-94B925438898}"/>
              </a:ext>
            </a:extLst>
          </p:cNvPr>
          <p:cNvSpPr txBox="1"/>
          <p:nvPr/>
        </p:nvSpPr>
        <p:spPr>
          <a:xfrm>
            <a:off x="8305800" y="4749800"/>
            <a:ext cx="3124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334155"/>
                </a:solidFill>
                <a:latin typeface="맑은 고딕" panose="020B0503020000020004" pitchFamily="50" charset="-127"/>
              </a:rPr>
              <a:t>name · session_id
</a:t>
            </a:r>
            <a:r>
              <a:rPr lang="ko-KR" altLang="en-US" sz="900">
                <a:solidFill>
                  <a:srgbClr val="334155"/>
                </a:solidFill>
                <a:latin typeface="맑은 고딕" panose="020B0503020000020004" pitchFamily="50" charset="-127"/>
              </a:rPr>
              <a:t>전환율 통계</a:t>
            </a:r>
            <a:r>
              <a:rPr lang="en-US" altLang="ko-KR" sz="900">
                <a:solidFill>
                  <a:srgbClr val="334155"/>
                </a:solidFill>
                <a:latin typeface="맑은 고딕" panose="020B0503020000020004" pitchFamily="50" charset="-127"/>
              </a:rPr>
              <a:t>(2</a:t>
            </a:r>
            <a:r>
              <a:rPr lang="ko-KR" altLang="en-US" sz="900">
                <a:solidFill>
                  <a:srgbClr val="334155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900">
                <a:solidFill>
                  <a:srgbClr val="334155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5611D01-602D-803F-68D9-0FDCABB1993C}"/>
              </a:ext>
            </a:extLst>
          </p:cNvPr>
          <p:cNvSpPr/>
          <p:nvPr/>
        </p:nvSpPr>
        <p:spPr>
          <a:xfrm>
            <a:off x="762000" y="5613400"/>
            <a:ext cx="10668000" cy="55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B3C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5727D-E8CE-6032-EB90-C569DC919C3A}"/>
              </a:ext>
            </a:extLst>
          </p:cNvPr>
          <p:cNvSpPr txBox="1"/>
          <p:nvPr/>
        </p:nvSpPr>
        <p:spPr>
          <a:xfrm>
            <a:off x="965200" y="5780403"/>
            <a:ext cx="10464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인덱스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: orders(created_at·status·member_id) · reports(order_id) · members(contact)    |    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대시보드 집계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: orders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date_trunc(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연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로 그룹</a:t>
            </a:r>
            <a:r>
              <a:rPr lang="en-US" altLang="ko-KR" sz="950" b="1">
                <a:solidFill>
                  <a:srgbClr val="1E276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합산</a:t>
            </a:r>
          </a:p>
        </p:txBody>
      </p:sp>
    </p:spTree>
    <p:extLst>
      <p:ext uri="{BB962C8B-B14F-4D97-AF65-F5344CB8AC3E}">
        <p14:creationId xmlns:p14="http://schemas.microsoft.com/office/powerpoint/2010/main" val="222633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4AB1C-FAED-0FEE-296E-3D79F0766ED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3F66A-81B4-EE0B-35DA-736B71CCAE66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06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데이터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보안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974A-9807-E1E1-5FDD-3DFC7142DEF4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보안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개인정보 보호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8EEAB-A191-EBCC-B4ED-6BB67418245C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07030-3A41-9D0C-B95F-2BB3F3A12082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15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95B00-B89D-E65A-1210-445462656BFD}"/>
              </a:ext>
            </a:extLst>
          </p:cNvPr>
          <p:cNvSpPr txBox="1"/>
          <p:nvPr/>
        </p:nvSpPr>
        <p:spPr>
          <a:xfrm>
            <a:off x="609600" y="1498600"/>
            <a:ext cx="5461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400" b="1">
                <a:solidFill>
                  <a:srgbClr val="1E2761"/>
                </a:solidFill>
                <a:latin typeface="맑은 고딕" panose="020B0503020000020004" pitchFamily="50" charset="-127"/>
              </a:rPr>
              <a:t>🔐  보안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87F3E1-8C85-4C19-251D-3E478270CDF4}"/>
              </a:ext>
            </a:extLst>
          </p:cNvPr>
          <p:cNvSpPr/>
          <p:nvPr/>
        </p:nvSpPr>
        <p:spPr>
          <a:xfrm>
            <a:off x="609600" y="1905000"/>
            <a:ext cx="5461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9F3F53-8D5B-BFD7-9E11-B2DE0CBC23BC}"/>
              </a:ext>
            </a:extLst>
          </p:cNvPr>
          <p:cNvSpPr/>
          <p:nvPr/>
        </p:nvSpPr>
        <p:spPr>
          <a:xfrm>
            <a:off x="609600" y="1905000"/>
            <a:ext cx="76200" cy="11684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F1570-4969-138F-98CF-B1E9FD898AD5}"/>
              </a:ext>
            </a:extLst>
          </p:cNvPr>
          <p:cNvSpPr txBox="1"/>
          <p:nvPr/>
        </p:nvSpPr>
        <p:spPr>
          <a:xfrm>
            <a:off x="914400" y="2082800"/>
            <a:ext cx="495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운영자 인증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F1C06-7E25-1334-6262-750704F52729}"/>
              </a:ext>
            </a:extLst>
          </p:cNvPr>
          <p:cNvSpPr txBox="1"/>
          <p:nvPr/>
        </p:nvSpPr>
        <p:spPr>
          <a:xfrm>
            <a:off x="914400" y="2438400"/>
            <a:ext cx="4953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허용된 이메일만 로그인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그 외 접근 차단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F870FC7-B095-EA01-3949-8936D31F1A5C}"/>
              </a:ext>
            </a:extLst>
          </p:cNvPr>
          <p:cNvSpPr/>
          <p:nvPr/>
        </p:nvSpPr>
        <p:spPr>
          <a:xfrm>
            <a:off x="609600" y="3225800"/>
            <a:ext cx="5461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41B9FE-73B2-905D-41DF-D273E4EA2727}"/>
              </a:ext>
            </a:extLst>
          </p:cNvPr>
          <p:cNvSpPr/>
          <p:nvPr/>
        </p:nvSpPr>
        <p:spPr>
          <a:xfrm>
            <a:off x="609600" y="3225800"/>
            <a:ext cx="76200" cy="11684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7609E-949C-DEE0-4F39-648ECB434725}"/>
              </a:ext>
            </a:extLst>
          </p:cNvPr>
          <p:cNvSpPr txBox="1"/>
          <p:nvPr/>
        </p:nvSpPr>
        <p:spPr>
          <a:xfrm>
            <a:off x="914400" y="3403600"/>
            <a:ext cx="495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행 수준 접근권한</a:t>
            </a:r>
            <a:r>
              <a:rPr lang="en-US" altLang="ko-KR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(RLS)</a:t>
            </a:r>
            <a:endParaRPr lang="ko-KR" altLang="en-US" sz="13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B6510-029B-07AE-7ED9-79B065E80607}"/>
              </a:ext>
            </a:extLst>
          </p:cNvPr>
          <p:cNvSpPr txBox="1"/>
          <p:nvPr/>
        </p:nvSpPr>
        <p:spPr>
          <a:xfrm>
            <a:off x="914400" y="3759200"/>
            <a:ext cx="4953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일반 사용자는 어떤 운영 데이터도 조회 불가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A6AD33-75D7-B5AE-CA8F-C576F79907BA}"/>
              </a:ext>
            </a:extLst>
          </p:cNvPr>
          <p:cNvSpPr/>
          <p:nvPr/>
        </p:nvSpPr>
        <p:spPr>
          <a:xfrm>
            <a:off x="609600" y="4546600"/>
            <a:ext cx="5461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0A51DC-94F5-63FF-DDD1-5FD0C057C4D0}"/>
              </a:ext>
            </a:extLst>
          </p:cNvPr>
          <p:cNvSpPr/>
          <p:nvPr/>
        </p:nvSpPr>
        <p:spPr>
          <a:xfrm>
            <a:off x="609600" y="4546600"/>
            <a:ext cx="76200" cy="11684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CF6EEE-4A45-0987-0BB6-A0BD2F5877D5}"/>
              </a:ext>
            </a:extLst>
          </p:cNvPr>
          <p:cNvSpPr txBox="1"/>
          <p:nvPr/>
        </p:nvSpPr>
        <p:spPr>
          <a:xfrm>
            <a:off x="914400" y="4724400"/>
            <a:ext cx="4953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키 보관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347B16-42B8-89E3-D271-DB0ACB6657D5}"/>
              </a:ext>
            </a:extLst>
          </p:cNvPr>
          <p:cNvSpPr txBox="1"/>
          <p:nvPr/>
        </p:nvSpPr>
        <p:spPr>
          <a:xfrm>
            <a:off x="914400" y="5080000"/>
            <a:ext cx="4953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토스 시크릿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서버 키는 환경변수에만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코드 노출 금지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ED4147-7196-D09D-EDB1-F49455F6C343}"/>
              </a:ext>
            </a:extLst>
          </p:cNvPr>
          <p:cNvSpPr txBox="1"/>
          <p:nvPr/>
        </p:nvSpPr>
        <p:spPr>
          <a:xfrm>
            <a:off x="6197600" y="1498600"/>
            <a:ext cx="538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400" b="1">
                <a:solidFill>
                  <a:srgbClr val="1E2761"/>
                </a:solidFill>
                <a:latin typeface="맑은 고딕" panose="020B0503020000020004" pitchFamily="50" charset="-127"/>
              </a:rPr>
              <a:t>🛡  개인정보 보호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6232E7E-1511-F3A6-4BC1-7C4582D19CE7}"/>
              </a:ext>
            </a:extLst>
          </p:cNvPr>
          <p:cNvSpPr/>
          <p:nvPr/>
        </p:nvSpPr>
        <p:spPr>
          <a:xfrm>
            <a:off x="6197600" y="1905000"/>
            <a:ext cx="53848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34ECBC-375C-9DF0-D0C0-17CDADD2F1DC}"/>
              </a:ext>
            </a:extLst>
          </p:cNvPr>
          <p:cNvSpPr/>
          <p:nvPr/>
        </p:nvSpPr>
        <p:spPr>
          <a:xfrm>
            <a:off x="6197600" y="1905000"/>
            <a:ext cx="76200" cy="1168400"/>
          </a:xfrm>
          <a:prstGeom prst="rect">
            <a:avLst/>
          </a:prstGeom>
          <a:solidFill>
            <a:srgbClr val="2E9E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ACAF53-29DB-9378-F633-640C4309C590}"/>
              </a:ext>
            </a:extLst>
          </p:cNvPr>
          <p:cNvSpPr txBox="1"/>
          <p:nvPr/>
        </p:nvSpPr>
        <p:spPr>
          <a:xfrm>
            <a:off x="6502400" y="2082800"/>
            <a:ext cx="4876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민감정보 최소 수집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B9037D-DA21-A235-A111-A821654F46E9}"/>
              </a:ext>
            </a:extLst>
          </p:cNvPr>
          <p:cNvSpPr txBox="1"/>
          <p:nvPr/>
        </p:nvSpPr>
        <p:spPr>
          <a:xfrm>
            <a:off x="6502400" y="2438400"/>
            <a:ext cx="487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회원 이름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연락처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생년월일시는 목적 외 사용 금지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9500982-F7AD-3045-2386-2C4F28EB4100}"/>
              </a:ext>
            </a:extLst>
          </p:cNvPr>
          <p:cNvSpPr/>
          <p:nvPr/>
        </p:nvSpPr>
        <p:spPr>
          <a:xfrm>
            <a:off x="6197600" y="3225800"/>
            <a:ext cx="53848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E847CA3-0831-7A85-7760-899D751A51A8}"/>
              </a:ext>
            </a:extLst>
          </p:cNvPr>
          <p:cNvSpPr/>
          <p:nvPr/>
        </p:nvSpPr>
        <p:spPr>
          <a:xfrm>
            <a:off x="6197600" y="3225800"/>
            <a:ext cx="76200" cy="1168400"/>
          </a:xfrm>
          <a:prstGeom prst="rect">
            <a:avLst/>
          </a:prstGeom>
          <a:solidFill>
            <a:srgbClr val="2E9E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172BD7-BA5F-614A-36EE-8BC4972E8954}"/>
              </a:ext>
            </a:extLst>
          </p:cNvPr>
          <p:cNvSpPr txBox="1"/>
          <p:nvPr/>
        </p:nvSpPr>
        <p:spPr>
          <a:xfrm>
            <a:off x="6502400" y="3403600"/>
            <a:ext cx="4876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목록 마스킹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F7A712-6DEA-9904-2113-C93899BD33A2}"/>
              </a:ext>
            </a:extLst>
          </p:cNvPr>
          <p:cNvSpPr txBox="1"/>
          <p:nvPr/>
        </p:nvSpPr>
        <p:spPr>
          <a:xfrm>
            <a:off x="6502400" y="3759200"/>
            <a:ext cx="487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연락처 일부 가림 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O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연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, 010-****-1234)</a:t>
            </a:r>
            <a:endParaRPr lang="ko-KR" altLang="en-US" sz="10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D243282-3187-3AF2-37A8-3F61E50ECC8A}"/>
              </a:ext>
            </a:extLst>
          </p:cNvPr>
          <p:cNvSpPr/>
          <p:nvPr/>
        </p:nvSpPr>
        <p:spPr>
          <a:xfrm>
            <a:off x="6197600" y="4546600"/>
            <a:ext cx="53848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37270F-7153-080E-E636-108FCD8CF32C}"/>
              </a:ext>
            </a:extLst>
          </p:cNvPr>
          <p:cNvSpPr/>
          <p:nvPr/>
        </p:nvSpPr>
        <p:spPr>
          <a:xfrm>
            <a:off x="6197600" y="4546600"/>
            <a:ext cx="76200" cy="1168400"/>
          </a:xfrm>
          <a:prstGeom prst="rect">
            <a:avLst/>
          </a:prstGeom>
          <a:solidFill>
            <a:srgbClr val="2E9E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23DD2F-DAB6-4611-6E44-9C60E12A8F53}"/>
              </a:ext>
            </a:extLst>
          </p:cNvPr>
          <p:cNvSpPr txBox="1"/>
          <p:nvPr/>
        </p:nvSpPr>
        <p:spPr>
          <a:xfrm>
            <a:off x="6502400" y="4724400"/>
            <a:ext cx="4876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접근</a:t>
            </a:r>
            <a:r>
              <a:rPr lang="en-US" altLang="ko-KR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1A1A2E"/>
                </a:solidFill>
                <a:latin typeface="맑은 고딕" panose="020B0503020000020004" pitchFamily="50" charset="-127"/>
              </a:rPr>
              <a:t>감사 로그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35C39D-771B-8A9E-2949-8E74E079B5DC}"/>
              </a:ext>
            </a:extLst>
          </p:cNvPr>
          <p:cNvSpPr txBox="1"/>
          <p:nvPr/>
        </p:nvSpPr>
        <p:spPr>
          <a:xfrm>
            <a:off x="6502400" y="5080000"/>
            <a:ext cx="48768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회원정보 조회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삭제는 누가</a:t>
            </a:r>
            <a:r>
              <a:rPr lang="en-US" altLang="ko-KR" sz="1050">
                <a:solidFill>
                  <a:srgbClr val="33415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34155"/>
                </a:solidFill>
                <a:latin typeface="맑은 고딕" panose="020B0503020000020004" pitchFamily="50" charset="-127"/>
              </a:rPr>
              <a:t>언제 기록</a:t>
            </a:r>
          </a:p>
        </p:txBody>
      </p:sp>
    </p:spTree>
    <p:extLst>
      <p:ext uri="{BB962C8B-B14F-4D97-AF65-F5344CB8AC3E}">
        <p14:creationId xmlns:p14="http://schemas.microsoft.com/office/powerpoint/2010/main" val="8073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5129F2-6FB4-0FB4-BAD6-E6CFF460907E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C74A8-7580-7547-209A-0287A79BC68D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06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데이터 </a:t>
            </a:r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보안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48EBD-579E-9F7D-7E56-AD18F57AE75C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민감작업 기술 적용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3FCEA-1F3E-7CB8-A8C0-BF5D848B645F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152A0-06A4-A1C9-931B-9168E4FFC6E4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16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68DBD-BC54-215F-71FA-49FBE5C62328}"/>
              </a:ext>
            </a:extLst>
          </p:cNvPr>
          <p:cNvSpPr txBox="1"/>
          <p:nvPr/>
        </p:nvSpPr>
        <p:spPr>
          <a:xfrm>
            <a:off x="609600" y="1422400"/>
            <a:ext cx="5334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처리 흐름 </a:t>
            </a:r>
            <a:r>
              <a:rPr lang="en-US" altLang="ko-KR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환불은 브라우저가 아닌 서버 함수를 거친다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EB8913-FB24-A5E6-4497-2FD85B9D1DE0}"/>
              </a:ext>
            </a:extLst>
          </p:cNvPr>
          <p:cNvSpPr/>
          <p:nvPr/>
        </p:nvSpPr>
        <p:spPr>
          <a:xfrm>
            <a:off x="609600" y="1778000"/>
            <a:ext cx="5080000" cy="6096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68D875-45DE-C2B2-4B61-805C7474FEC5}"/>
              </a:ext>
            </a:extLst>
          </p:cNvPr>
          <p:cNvSpPr txBox="1"/>
          <p:nvPr/>
        </p:nvSpPr>
        <p:spPr>
          <a:xfrm>
            <a:off x="812800" y="1831861"/>
            <a:ext cx="4826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① 어드민 화면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브라우저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)  — 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환불 버튼 클릭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F8E25EDF-A522-4406-3194-8AC2853F56E2}"/>
              </a:ext>
            </a:extLst>
          </p:cNvPr>
          <p:cNvSpPr/>
          <p:nvPr/>
        </p:nvSpPr>
        <p:spPr>
          <a:xfrm>
            <a:off x="2921000" y="2413000"/>
            <a:ext cx="457200" cy="228600"/>
          </a:xfrm>
          <a:prstGeom prst="down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3A84EAA-2B44-4C5E-27A8-332738C75093}"/>
              </a:ext>
            </a:extLst>
          </p:cNvPr>
          <p:cNvSpPr/>
          <p:nvPr/>
        </p:nvSpPr>
        <p:spPr>
          <a:xfrm>
            <a:off x="609600" y="2692400"/>
            <a:ext cx="50800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B6F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B687541-829B-3361-491B-880C13D979F3}"/>
              </a:ext>
            </a:extLst>
          </p:cNvPr>
          <p:cNvSpPr/>
          <p:nvPr/>
        </p:nvSpPr>
        <p:spPr>
          <a:xfrm>
            <a:off x="609600" y="2692400"/>
            <a:ext cx="5080000" cy="355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A789E-0553-5315-CDB4-C37C59CD5570}"/>
              </a:ext>
            </a:extLst>
          </p:cNvPr>
          <p:cNvSpPr txBox="1"/>
          <p:nvPr/>
        </p:nvSpPr>
        <p:spPr>
          <a:xfrm>
            <a:off x="812800" y="2746261"/>
            <a:ext cx="4826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② 서버 함수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(Supabase Edge / Flask)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68CA8-76A9-A054-FD12-D3FDAB3F9E6D}"/>
              </a:ext>
            </a:extLst>
          </p:cNvPr>
          <p:cNvSpPr txBox="1"/>
          <p:nvPr/>
        </p:nvSpPr>
        <p:spPr>
          <a:xfrm>
            <a:off x="812800" y="3124200"/>
            <a:ext cx="4724400" cy="46423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운영자 권한 검증   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멱등키로 중복 환불 차단
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토스 환불 호출 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(TOSS_SECRET,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서버 전용</a:t>
            </a:r>
            <a:r>
              <a:rPr lang="en-US" altLang="ko-KR" sz="950">
                <a:solidFill>
                  <a:srgbClr val="334155"/>
                </a:solidFill>
                <a:latin typeface="맑은 고딕" panose="020B0503020000020004" pitchFamily="50" charset="-127"/>
              </a:rPr>
              <a:t>)
· orders.status='refunded' + audit_logs </a:t>
            </a:r>
            <a:r>
              <a:rPr lang="ko-KR" altLang="en-US" sz="950">
                <a:solidFill>
                  <a:srgbClr val="334155"/>
                </a:solidFill>
                <a:latin typeface="맑은 고딕" panose="020B0503020000020004" pitchFamily="50" charset="-127"/>
              </a:rPr>
              <a:t>기록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CB255FA6-E5AB-622E-FB32-5CA8502AE161}"/>
              </a:ext>
            </a:extLst>
          </p:cNvPr>
          <p:cNvSpPr/>
          <p:nvPr/>
        </p:nvSpPr>
        <p:spPr>
          <a:xfrm>
            <a:off x="2921000" y="4191000"/>
            <a:ext cx="457200" cy="228600"/>
          </a:xfrm>
          <a:prstGeom prst="down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2C516B3-59B3-C0CD-353A-F3D4B897878E}"/>
              </a:ext>
            </a:extLst>
          </p:cNvPr>
          <p:cNvSpPr/>
          <p:nvPr/>
        </p:nvSpPr>
        <p:spPr>
          <a:xfrm>
            <a:off x="609600" y="4470400"/>
            <a:ext cx="5080000" cy="55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19A38-5698-2ABC-CF62-71FB625AD948}"/>
              </a:ext>
            </a:extLst>
          </p:cNvPr>
          <p:cNvSpPr txBox="1"/>
          <p:nvPr/>
        </p:nvSpPr>
        <p:spPr>
          <a:xfrm>
            <a:off x="812800" y="4524261"/>
            <a:ext cx="4826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③ 토스페이먼츠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API — 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실제 환불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confirm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2A44681-3B5A-9A06-4F35-7E3781E1F56D}"/>
              </a:ext>
            </a:extLst>
          </p:cNvPr>
          <p:cNvSpPr/>
          <p:nvPr/>
        </p:nvSpPr>
        <p:spPr>
          <a:xfrm>
            <a:off x="609600" y="5207000"/>
            <a:ext cx="5080000" cy="5080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0C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EEDC1-11B7-B6AC-453A-A6EF189A99E2}"/>
              </a:ext>
            </a:extLst>
          </p:cNvPr>
          <p:cNvSpPr txBox="1"/>
          <p:nvPr/>
        </p:nvSpPr>
        <p:spPr>
          <a:xfrm>
            <a:off x="787400" y="5272403"/>
            <a:ext cx="4749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950" b="1">
                <a:solidFill>
                  <a:srgbClr val="7A5B00"/>
                </a:solidFill>
                <a:latin typeface="맑은 고딕" panose="020B0503020000020004" pitchFamily="50" charset="-127"/>
              </a:rPr>
              <a:t>⚠️ 시크릿키</a:t>
            </a:r>
            <a:r>
              <a:rPr lang="en-US" altLang="ko-KR" sz="950" b="1">
                <a:solidFill>
                  <a:srgbClr val="7A5B00"/>
                </a:solidFill>
                <a:latin typeface="맑은 고딕" panose="020B0503020000020004" pitchFamily="50" charset="-127"/>
              </a:rPr>
              <a:t>·service_role </a:t>
            </a:r>
            <a:r>
              <a:rPr lang="ko-KR" altLang="en-US" sz="950" b="1">
                <a:solidFill>
                  <a:srgbClr val="7A5B00"/>
                </a:solidFill>
                <a:latin typeface="맑은 고딕" panose="020B0503020000020004" pitchFamily="50" charset="-127"/>
              </a:rPr>
              <a:t>키는 서버 함수에만 </a:t>
            </a:r>
            <a:r>
              <a:rPr lang="en-US" altLang="ko-KR" sz="950" b="1">
                <a:solidFill>
                  <a:srgbClr val="7A5B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7A5B00"/>
                </a:solidFill>
                <a:latin typeface="맑은 고딕" panose="020B0503020000020004" pitchFamily="50" charset="-127"/>
              </a:rPr>
              <a:t>브라우저</a:t>
            </a:r>
            <a:r>
              <a:rPr lang="en-US" altLang="ko-KR" sz="950" b="1">
                <a:solidFill>
                  <a:srgbClr val="7A5B0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 b="1">
                <a:solidFill>
                  <a:srgbClr val="7A5B00"/>
                </a:solidFill>
                <a:latin typeface="맑은 고딕" panose="020B0503020000020004" pitchFamily="50" charset="-127"/>
              </a:rPr>
              <a:t>깃허브 노출 금지</a:t>
            </a:r>
            <a:r>
              <a:rPr lang="en-US" altLang="ko-KR" sz="950" b="1">
                <a:solidFill>
                  <a:srgbClr val="7A5B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50" b="1">
              <a:solidFill>
                <a:srgbClr val="7A5B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81E57-981E-F770-7213-D26B74693467}"/>
              </a:ext>
            </a:extLst>
          </p:cNvPr>
          <p:cNvSpPr txBox="1"/>
          <p:nvPr/>
        </p:nvSpPr>
        <p:spPr>
          <a:xfrm>
            <a:off x="6197600" y="1422400"/>
            <a:ext cx="5384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B6FB5"/>
                </a:solidFill>
                <a:latin typeface="맑은 고딕" panose="020B0503020000020004" pitchFamily="50" charset="-127"/>
              </a:rPr>
              <a:t>적용 원칙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08F38B4-FAF9-2C32-9727-2EEC83236404}"/>
              </a:ext>
            </a:extLst>
          </p:cNvPr>
          <p:cNvSpPr/>
          <p:nvPr/>
        </p:nvSpPr>
        <p:spPr>
          <a:xfrm>
            <a:off x="6197600" y="17780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7DE27A-401B-6E6D-BF51-35DAE5E3F6C1}"/>
              </a:ext>
            </a:extLst>
          </p:cNvPr>
          <p:cNvSpPr/>
          <p:nvPr/>
        </p:nvSpPr>
        <p:spPr>
          <a:xfrm>
            <a:off x="6197600" y="17780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173E7F-82A3-10E1-3F28-2EC119DCA272}"/>
              </a:ext>
            </a:extLst>
          </p:cNvPr>
          <p:cNvSpPr txBox="1"/>
          <p:nvPr/>
        </p:nvSpPr>
        <p:spPr>
          <a:xfrm>
            <a:off x="6426200" y="18669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시크릿키 보호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A5DF1-D419-C348-962F-B0AEBF974DA7}"/>
              </a:ext>
            </a:extLst>
          </p:cNvPr>
          <p:cNvSpPr txBox="1"/>
          <p:nvPr/>
        </p:nvSpPr>
        <p:spPr>
          <a:xfrm>
            <a:off x="6426200" y="21209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TOSS_SECRET·service_role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은 서버에만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20A470B-B064-24C5-E51D-1F4E2C6CCE60}"/>
              </a:ext>
            </a:extLst>
          </p:cNvPr>
          <p:cNvSpPr/>
          <p:nvPr/>
        </p:nvSpPr>
        <p:spPr>
          <a:xfrm>
            <a:off x="6197600" y="24638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F2AE341-A724-8859-DB38-B38B276D80C4}"/>
              </a:ext>
            </a:extLst>
          </p:cNvPr>
          <p:cNvSpPr/>
          <p:nvPr/>
        </p:nvSpPr>
        <p:spPr>
          <a:xfrm>
            <a:off x="6197600" y="24638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DDE6B-2A35-2EE7-4268-EC0A0859E4E8}"/>
              </a:ext>
            </a:extLst>
          </p:cNvPr>
          <p:cNvSpPr txBox="1"/>
          <p:nvPr/>
        </p:nvSpPr>
        <p:spPr>
          <a:xfrm>
            <a:off x="6426200" y="25527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권한 검증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7E664F-8DBD-1FF6-CE5E-A386CD15B5C5}"/>
              </a:ext>
            </a:extLst>
          </p:cNvPr>
          <p:cNvSpPr txBox="1"/>
          <p:nvPr/>
        </p:nvSpPr>
        <p:spPr>
          <a:xfrm>
            <a:off x="6426200" y="28067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요청자의 운영자 인증 토큰 먼저 확인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4309ED7-C09E-D1F7-134D-69F357FEE386}"/>
              </a:ext>
            </a:extLst>
          </p:cNvPr>
          <p:cNvSpPr/>
          <p:nvPr/>
        </p:nvSpPr>
        <p:spPr>
          <a:xfrm>
            <a:off x="6197600" y="31496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4252824-336B-B890-7526-A39D8624C020}"/>
              </a:ext>
            </a:extLst>
          </p:cNvPr>
          <p:cNvSpPr/>
          <p:nvPr/>
        </p:nvSpPr>
        <p:spPr>
          <a:xfrm>
            <a:off x="6197600" y="31496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F8B701-51DD-56C3-E8AF-CB9BC6F06F43}"/>
              </a:ext>
            </a:extLst>
          </p:cNvPr>
          <p:cNvSpPr txBox="1"/>
          <p:nvPr/>
        </p:nvSpPr>
        <p:spPr>
          <a:xfrm>
            <a:off x="6426200" y="32385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멱등성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0344D-D585-2EF8-7004-FB72BD1704B9}"/>
              </a:ext>
            </a:extLst>
          </p:cNvPr>
          <p:cNvSpPr txBox="1"/>
          <p:nvPr/>
        </p:nvSpPr>
        <p:spPr>
          <a:xfrm>
            <a:off x="6426200" y="34925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order_id+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멱등키로 중복 환불 차단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B21D2DF-F494-3B2F-66F4-2190506596EC}"/>
              </a:ext>
            </a:extLst>
          </p:cNvPr>
          <p:cNvSpPr/>
          <p:nvPr/>
        </p:nvSpPr>
        <p:spPr>
          <a:xfrm>
            <a:off x="6197600" y="38354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3D8646-5B4D-740C-C76E-C49864E79364}"/>
              </a:ext>
            </a:extLst>
          </p:cNvPr>
          <p:cNvSpPr/>
          <p:nvPr/>
        </p:nvSpPr>
        <p:spPr>
          <a:xfrm>
            <a:off x="6197600" y="38354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C7AF6-22A4-1648-2937-DFAA1E849F2F}"/>
              </a:ext>
            </a:extLst>
          </p:cNvPr>
          <p:cNvSpPr txBox="1"/>
          <p:nvPr/>
        </p:nvSpPr>
        <p:spPr>
          <a:xfrm>
            <a:off x="6426200" y="39243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운영자 직접 실행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E4E200-A36B-A2B4-81F0-75E1771019A7}"/>
              </a:ext>
            </a:extLst>
          </p:cNvPr>
          <p:cNvSpPr txBox="1"/>
          <p:nvPr/>
        </p:nvSpPr>
        <p:spPr>
          <a:xfrm>
            <a:off x="6426200" y="41783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자동 환불 금지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버튼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확인 모달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E7719AE-3F52-5D95-8470-08D06F027F1B}"/>
              </a:ext>
            </a:extLst>
          </p:cNvPr>
          <p:cNvSpPr/>
          <p:nvPr/>
        </p:nvSpPr>
        <p:spPr>
          <a:xfrm>
            <a:off x="6197600" y="45212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DA12D44-67C9-091F-C43C-B95AC97CC230}"/>
              </a:ext>
            </a:extLst>
          </p:cNvPr>
          <p:cNvSpPr/>
          <p:nvPr/>
        </p:nvSpPr>
        <p:spPr>
          <a:xfrm>
            <a:off x="6197600" y="45212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CE3DFF-5E65-17A1-B4B5-BCCDD5459CB2}"/>
              </a:ext>
            </a:extLst>
          </p:cNvPr>
          <p:cNvSpPr txBox="1"/>
          <p:nvPr/>
        </p:nvSpPr>
        <p:spPr>
          <a:xfrm>
            <a:off x="6426200" y="46101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감사 로그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28687A-3003-65BE-5FBC-4D6FD5B937F3}"/>
              </a:ext>
            </a:extLst>
          </p:cNvPr>
          <p:cNvSpPr txBox="1"/>
          <p:nvPr/>
        </p:nvSpPr>
        <p:spPr>
          <a:xfrm>
            <a:off x="6426200" y="48641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민감조회를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audit_logs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에 기록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30097A5-A5B1-AF01-B94D-EAAB51F9FB13}"/>
              </a:ext>
            </a:extLst>
          </p:cNvPr>
          <p:cNvSpPr/>
          <p:nvPr/>
        </p:nvSpPr>
        <p:spPr>
          <a:xfrm>
            <a:off x="6197600" y="5207000"/>
            <a:ext cx="53848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674C84-A832-43E7-00CA-C03376880D26}"/>
              </a:ext>
            </a:extLst>
          </p:cNvPr>
          <p:cNvSpPr/>
          <p:nvPr/>
        </p:nvSpPr>
        <p:spPr>
          <a:xfrm>
            <a:off x="6197600" y="5207000"/>
            <a:ext cx="76200" cy="635000"/>
          </a:xfrm>
          <a:prstGeom prst="rect">
            <a:avLst/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6835AC-F3A6-8BFE-64B7-B40D3F2B1894}"/>
              </a:ext>
            </a:extLst>
          </p:cNvPr>
          <p:cNvSpPr txBox="1"/>
          <p:nvPr/>
        </p:nvSpPr>
        <p:spPr>
          <a:xfrm>
            <a:off x="6426200" y="5295900"/>
            <a:ext cx="2540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 b="1">
                <a:solidFill>
                  <a:srgbClr val="1A1A2E"/>
                </a:solidFill>
                <a:latin typeface="맑은 고딕" panose="020B0503020000020004" pitchFamily="50" charset="-127"/>
              </a:rPr>
              <a:t>실패 처리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A38690-B59B-40C5-2F6C-61A2B4687D6F}"/>
              </a:ext>
            </a:extLst>
          </p:cNvPr>
          <p:cNvSpPr txBox="1"/>
          <p:nvPr/>
        </p:nvSpPr>
        <p:spPr>
          <a:xfrm>
            <a:off x="6426200" y="5549900"/>
            <a:ext cx="50292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토스 실패 시 상태 변경 없이 사유 노출</a:t>
            </a:r>
          </a:p>
        </p:txBody>
      </p:sp>
    </p:spTree>
    <p:extLst>
      <p:ext uri="{BB962C8B-B14F-4D97-AF65-F5344CB8AC3E}">
        <p14:creationId xmlns:p14="http://schemas.microsoft.com/office/powerpoint/2010/main" val="3486164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FAD80EE-787F-0630-D434-194131AEFAD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31699-D919-FAA0-0E25-27ED26255562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07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출시 로드맵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9A863-4875-FBBF-A3DC-2DC6487FCF1E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출시 로드맵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(Phase 0 ~ 3)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AD6E5-E994-AACE-0EE2-F1BCB3D79B02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A3712-F8A7-C237-0FE6-F220FAA64329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17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786E84-0ADA-5620-8C17-2A3EA98CC5CC}"/>
              </a:ext>
            </a:extLst>
          </p:cNvPr>
          <p:cNvSpPr/>
          <p:nvPr/>
        </p:nvSpPr>
        <p:spPr>
          <a:xfrm>
            <a:off x="711200" y="2159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A6A60-6735-5673-A397-EE78DB1AA12E}"/>
              </a:ext>
            </a:extLst>
          </p:cNvPr>
          <p:cNvSpPr txBox="1"/>
          <p:nvPr/>
        </p:nvSpPr>
        <p:spPr>
          <a:xfrm>
            <a:off x="914400" y="2438400"/>
            <a:ext cx="2235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b="1">
                <a:solidFill>
                  <a:srgbClr val="FFFFFF"/>
                </a:solidFill>
                <a:latin typeface="맑은 고딕" panose="020B0503020000020004" pitchFamily="50" charset="-127"/>
              </a:rPr>
              <a:t>Phase 0</a:t>
            </a:r>
            <a:endParaRPr lang="ko-KR" altLang="en-US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64CFB08-02C0-C48C-1FA4-ABE43FBD2F6D}"/>
              </a:ext>
            </a:extLst>
          </p:cNvPr>
          <p:cNvSpPr/>
          <p:nvPr/>
        </p:nvSpPr>
        <p:spPr>
          <a:xfrm>
            <a:off x="914400" y="2844800"/>
            <a:ext cx="10668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45C44-F994-2BBE-382D-3F6423CFA29F}"/>
              </a:ext>
            </a:extLst>
          </p:cNvPr>
          <p:cNvSpPr txBox="1"/>
          <p:nvPr/>
        </p:nvSpPr>
        <p:spPr>
          <a:xfrm>
            <a:off x="914400" y="2897502"/>
            <a:ext cx="1066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1E2761"/>
                </a:solidFill>
                <a:latin typeface="맑은 고딕" panose="020B0503020000020004" pitchFamily="50" charset="-127"/>
              </a:rPr>
              <a:t>선행 필수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62FFB9-EBF7-2CE7-F86F-C15E0FCC45EF}"/>
              </a:ext>
            </a:extLst>
          </p:cNvPr>
          <p:cNvSpPr/>
          <p:nvPr/>
        </p:nvSpPr>
        <p:spPr>
          <a:xfrm>
            <a:off x="914400" y="3276600"/>
            <a:ext cx="2133600" cy="12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83D6D-5854-9551-EEEC-AA5F51FAAF93}"/>
              </a:ext>
            </a:extLst>
          </p:cNvPr>
          <p:cNvSpPr txBox="1"/>
          <p:nvPr/>
        </p:nvSpPr>
        <p:spPr>
          <a:xfrm>
            <a:off x="914400" y="3429000"/>
            <a:ext cx="21844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데이터 적재 시작
결제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·AI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사용 기록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6ECC33B-9171-943C-3C36-48199AAAB547}"/>
              </a:ext>
            </a:extLst>
          </p:cNvPr>
          <p:cNvSpPr/>
          <p:nvPr/>
        </p:nvSpPr>
        <p:spPr>
          <a:xfrm>
            <a:off x="3251200" y="3556000"/>
            <a:ext cx="1524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2BE257-AEB4-5BA1-2D0D-8ED5283AFE36}"/>
              </a:ext>
            </a:extLst>
          </p:cNvPr>
          <p:cNvSpPr/>
          <p:nvPr/>
        </p:nvSpPr>
        <p:spPr>
          <a:xfrm>
            <a:off x="3403600" y="2159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78062-11FF-D5CE-014F-B58139015B56}"/>
              </a:ext>
            </a:extLst>
          </p:cNvPr>
          <p:cNvSpPr txBox="1"/>
          <p:nvPr/>
        </p:nvSpPr>
        <p:spPr>
          <a:xfrm>
            <a:off x="3606800" y="2438400"/>
            <a:ext cx="2235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b="1">
                <a:solidFill>
                  <a:srgbClr val="FFFFFF"/>
                </a:solidFill>
                <a:latin typeface="맑은 고딕" panose="020B0503020000020004" pitchFamily="50" charset="-127"/>
              </a:rPr>
              <a:t>Phase 1</a:t>
            </a:r>
            <a:endParaRPr lang="ko-KR" altLang="en-US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84015CD-65DB-06D0-F12C-D5EAD1488DA5}"/>
              </a:ext>
            </a:extLst>
          </p:cNvPr>
          <p:cNvSpPr/>
          <p:nvPr/>
        </p:nvSpPr>
        <p:spPr>
          <a:xfrm>
            <a:off x="3606800" y="2844800"/>
            <a:ext cx="10668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C52F4E-AD8D-0BE6-CB27-9260AFD91C34}"/>
              </a:ext>
            </a:extLst>
          </p:cNvPr>
          <p:cNvSpPr txBox="1"/>
          <p:nvPr/>
        </p:nvSpPr>
        <p:spPr>
          <a:xfrm>
            <a:off x="3606800" y="2897503"/>
            <a:ext cx="1066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3B6FB5"/>
                </a:solidFill>
                <a:latin typeface="맑은 고딕" panose="020B0503020000020004" pitchFamily="50" charset="-127"/>
              </a:rPr>
              <a:t>어드민 </a:t>
            </a:r>
            <a:r>
              <a:rPr lang="en-US" altLang="ko-KR" sz="950" b="1">
                <a:solidFill>
                  <a:srgbClr val="3B6FB5"/>
                </a:solidFill>
                <a:latin typeface="맑은 고딕" panose="020B0503020000020004" pitchFamily="50" charset="-127"/>
              </a:rPr>
              <a:t>MVP</a:t>
            </a:r>
            <a:endParaRPr lang="ko-KR" altLang="en-US" sz="950" b="1">
              <a:solidFill>
                <a:srgbClr val="3B6FB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D4CC92-9FF1-711F-D255-06534B5CBB8F}"/>
              </a:ext>
            </a:extLst>
          </p:cNvPr>
          <p:cNvSpPr/>
          <p:nvPr/>
        </p:nvSpPr>
        <p:spPr>
          <a:xfrm>
            <a:off x="3606800" y="3276600"/>
            <a:ext cx="2133600" cy="12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C1ACD-4C15-14FE-7ACE-0AA599733EBC}"/>
              </a:ext>
            </a:extLst>
          </p:cNvPr>
          <p:cNvSpPr txBox="1"/>
          <p:nvPr/>
        </p:nvSpPr>
        <p:spPr>
          <a:xfrm>
            <a:off x="3606800" y="3429000"/>
            <a:ext cx="21844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로그인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주문관리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보고서
재발급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환불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7856BF0A-6089-E5F7-30F2-9A71AFBEC78A}"/>
              </a:ext>
            </a:extLst>
          </p:cNvPr>
          <p:cNvSpPr/>
          <p:nvPr/>
        </p:nvSpPr>
        <p:spPr>
          <a:xfrm>
            <a:off x="5943600" y="3556000"/>
            <a:ext cx="1524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AD4786C-A40F-C1E2-E16A-21BBD30D7648}"/>
              </a:ext>
            </a:extLst>
          </p:cNvPr>
          <p:cNvSpPr/>
          <p:nvPr/>
        </p:nvSpPr>
        <p:spPr>
          <a:xfrm>
            <a:off x="6096000" y="2159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6B8B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E58FB8-6352-63C5-EC42-DA7874125AA4}"/>
              </a:ext>
            </a:extLst>
          </p:cNvPr>
          <p:cNvSpPr txBox="1"/>
          <p:nvPr/>
        </p:nvSpPr>
        <p:spPr>
          <a:xfrm>
            <a:off x="6299200" y="2438400"/>
            <a:ext cx="2235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b="1">
                <a:solidFill>
                  <a:srgbClr val="FFFFFF"/>
                </a:solidFill>
                <a:latin typeface="맑은 고딕" panose="020B0503020000020004" pitchFamily="50" charset="-127"/>
              </a:rPr>
              <a:t>Phase 2</a:t>
            </a:r>
            <a:endParaRPr lang="ko-KR" altLang="en-US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27B8F5-8BDF-1C59-9DC8-9F0AAE773C03}"/>
              </a:ext>
            </a:extLst>
          </p:cNvPr>
          <p:cNvSpPr/>
          <p:nvPr/>
        </p:nvSpPr>
        <p:spPr>
          <a:xfrm>
            <a:off x="6299200" y="2844800"/>
            <a:ext cx="10668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212517-FEC8-2AB4-226A-B5D6BF4BD035}"/>
              </a:ext>
            </a:extLst>
          </p:cNvPr>
          <p:cNvSpPr txBox="1"/>
          <p:nvPr/>
        </p:nvSpPr>
        <p:spPr>
          <a:xfrm>
            <a:off x="6299200" y="2897502"/>
            <a:ext cx="1066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6B8BBE"/>
                </a:solidFill>
                <a:latin typeface="맑은 고딕" panose="020B0503020000020004" pitchFamily="50" charset="-127"/>
              </a:rPr>
              <a:t>통계 강화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046060-848B-0F74-1748-FD9E34368F9E}"/>
              </a:ext>
            </a:extLst>
          </p:cNvPr>
          <p:cNvSpPr/>
          <p:nvPr/>
        </p:nvSpPr>
        <p:spPr>
          <a:xfrm>
            <a:off x="6299200" y="3276600"/>
            <a:ext cx="2133600" cy="12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1829B-D1F7-5690-4119-7404037AF0C8}"/>
              </a:ext>
            </a:extLst>
          </p:cNvPr>
          <p:cNvSpPr txBox="1"/>
          <p:nvPr/>
        </p:nvSpPr>
        <p:spPr>
          <a:xfrm>
            <a:off x="6299200" y="3429000"/>
            <a:ext cx="21844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전환율 퍼널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매출 차트
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비용 모니터링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871E2FB3-D47D-3895-7693-2A2C33D6AD79}"/>
              </a:ext>
            </a:extLst>
          </p:cNvPr>
          <p:cNvSpPr/>
          <p:nvPr/>
        </p:nvSpPr>
        <p:spPr>
          <a:xfrm>
            <a:off x="8636000" y="3556000"/>
            <a:ext cx="1524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784FCF6-545B-4BB9-7399-0CD8E2093DB4}"/>
              </a:ext>
            </a:extLst>
          </p:cNvPr>
          <p:cNvSpPr/>
          <p:nvPr/>
        </p:nvSpPr>
        <p:spPr>
          <a:xfrm>
            <a:off x="8788400" y="2159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A3AE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C81F54-E93B-21DA-98AB-378AEBC1AF03}"/>
              </a:ext>
            </a:extLst>
          </p:cNvPr>
          <p:cNvSpPr txBox="1"/>
          <p:nvPr/>
        </p:nvSpPr>
        <p:spPr>
          <a:xfrm>
            <a:off x="8991600" y="2438400"/>
            <a:ext cx="2235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b="1">
                <a:solidFill>
                  <a:srgbClr val="FFFFFF"/>
                </a:solidFill>
                <a:latin typeface="맑은 고딕" panose="020B0503020000020004" pitchFamily="50" charset="-127"/>
              </a:rPr>
              <a:t>Phase 3</a:t>
            </a:r>
            <a:endParaRPr lang="ko-KR" altLang="en-US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4AACE64-F43B-55C1-A3BE-FF2A478C98F6}"/>
              </a:ext>
            </a:extLst>
          </p:cNvPr>
          <p:cNvSpPr/>
          <p:nvPr/>
        </p:nvSpPr>
        <p:spPr>
          <a:xfrm>
            <a:off x="8991600" y="2844800"/>
            <a:ext cx="10668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E2D235-2EBB-1F00-F158-58FDC26663E5}"/>
              </a:ext>
            </a:extLst>
          </p:cNvPr>
          <p:cNvSpPr txBox="1"/>
          <p:nvPr/>
        </p:nvSpPr>
        <p:spPr>
          <a:xfrm>
            <a:off x="8991600" y="2897502"/>
            <a:ext cx="10668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950" b="1">
                <a:solidFill>
                  <a:srgbClr val="A3AEC7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52743B-93CB-57E1-9670-17760D19A9C3}"/>
              </a:ext>
            </a:extLst>
          </p:cNvPr>
          <p:cNvSpPr/>
          <p:nvPr/>
        </p:nvSpPr>
        <p:spPr>
          <a:xfrm>
            <a:off x="8991600" y="3276600"/>
            <a:ext cx="2133600" cy="12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981121-2FA8-A243-6B7D-E31E45C4601C}"/>
              </a:ext>
            </a:extLst>
          </p:cNvPr>
          <p:cNvSpPr txBox="1"/>
          <p:nvPr/>
        </p:nvSpPr>
        <p:spPr>
          <a:xfrm>
            <a:off x="8991600" y="3429000"/>
            <a:ext cx="21844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콘텐츠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한자</a:t>
            </a:r>
            <a:r>
              <a:rPr lang="en-US" altLang="ko-KR" sz="1100">
                <a:solidFill>
                  <a:srgbClr val="FFFFFF"/>
                </a:solidFill>
                <a:latin typeface="맑은 고딕" panose="020B0503020000020004" pitchFamily="50" charset="-127"/>
              </a:rPr>
              <a:t>DB)·</a:t>
            </a:r>
            <a:r>
              <a:rPr lang="ko-KR" altLang="en-US" sz="1100">
                <a:solidFill>
                  <a:srgbClr val="FFFFFF"/>
                </a:solidFill>
                <a:latin typeface="맑은 고딕" panose="020B0503020000020004" pitchFamily="50" charset="-127"/>
              </a:rPr>
              <a:t>가격
점검 모드 설정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C33D90-AF06-163F-AF66-3EDF412100F9}"/>
              </a:ext>
            </a:extLst>
          </p:cNvPr>
          <p:cNvSpPr txBox="1"/>
          <p:nvPr/>
        </p:nvSpPr>
        <p:spPr>
          <a:xfrm>
            <a:off x="711200" y="5486400"/>
            <a:ext cx="10795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Phase 0(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데이터 적재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Phase 1(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어드민 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MVP)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차 목표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. Phase 2~3</a:t>
            </a:r>
            <a:r>
              <a:rPr lang="ko-KR" altLang="en-US" sz="1150">
                <a:solidFill>
                  <a:srgbClr val="334155"/>
                </a:solidFill>
                <a:latin typeface="맑은 고딕" panose="020B0503020000020004" pitchFamily="50" charset="-127"/>
              </a:rPr>
              <a:t>은 운영 안정화 후 단계적으로 확장한다</a:t>
            </a:r>
            <a:r>
              <a:rPr lang="en-US" altLang="ko-KR" sz="1150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58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50986A-CBCB-9653-6519-72F23592537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1766C-B7AD-ACC8-FD13-7BF0CC68D65F}"/>
              </a:ext>
            </a:extLst>
          </p:cNvPr>
          <p:cNvSpPr txBox="1"/>
          <p:nvPr/>
        </p:nvSpPr>
        <p:spPr>
          <a:xfrm>
            <a:off x="609600" y="482600"/>
            <a:ext cx="9652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07 · </a:t>
            </a:r>
            <a:r>
              <a:rPr lang="ko-KR" altLang="en-US" sz="1200" b="1">
                <a:solidFill>
                  <a:srgbClr val="3B6FB5"/>
                </a:solidFill>
                <a:latin typeface="맑은 고딕" panose="020B0503020000020004" pitchFamily="50" charset="-127"/>
              </a:rPr>
              <a:t>출시 로드맵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6FA9A-D4F3-E80D-0B15-B2D2C5307946}"/>
              </a:ext>
            </a:extLst>
          </p:cNvPr>
          <p:cNvSpPr txBox="1"/>
          <p:nvPr/>
        </p:nvSpPr>
        <p:spPr>
          <a:xfrm>
            <a:off x="596900" y="711200"/>
            <a:ext cx="10922000" cy="47192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개발 구현 순서 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개발자 가이드</a:t>
            </a:r>
            <a:r>
              <a:rPr lang="en-US" altLang="ko-KR" sz="29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29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6D999-9D0C-52E4-CAF8-732DA0932A57}"/>
              </a:ext>
            </a:extLst>
          </p:cNvPr>
          <p:cNvSpPr txBox="1"/>
          <p:nvPr/>
        </p:nvSpPr>
        <p:spPr>
          <a:xfrm>
            <a:off x="609600" y="6553200"/>
            <a:ext cx="609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DearName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운영 어드민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71073-6952-2DB2-5E00-B213C854E265}"/>
              </a:ext>
            </a:extLst>
          </p:cNvPr>
          <p:cNvSpPr txBox="1"/>
          <p:nvPr/>
        </p:nvSpPr>
        <p:spPr>
          <a:xfrm>
            <a:off x="10312400" y="6553200"/>
            <a:ext cx="127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18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C9E02-0B7E-3FB6-50A0-71CA4B22CDC8}"/>
              </a:ext>
            </a:extLst>
          </p:cNvPr>
          <p:cNvSpPr txBox="1"/>
          <p:nvPr/>
        </p:nvSpPr>
        <p:spPr>
          <a:xfrm>
            <a:off x="609600" y="1397000"/>
            <a:ext cx="109728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읽기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먼저 → 쓰기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나중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.  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각 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STEP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의 완료기준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(DoD)</a:t>
            </a:r>
            <a:r>
              <a:rPr lang="ko-KR" altLang="en-US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을 만족해야 다음 단계로 넘어간다</a:t>
            </a:r>
            <a:r>
              <a:rPr lang="en-US" altLang="ko-KR" sz="1100" b="1">
                <a:solidFill>
                  <a:srgbClr val="3341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88AF84-83D4-C603-1B03-7A6DAF69D410}"/>
              </a:ext>
            </a:extLst>
          </p:cNvPr>
          <p:cNvSpPr/>
          <p:nvPr/>
        </p:nvSpPr>
        <p:spPr>
          <a:xfrm>
            <a:off x="609600" y="17272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EBD3D5-CFD8-53D9-37BC-74E5B025822B}"/>
              </a:ext>
            </a:extLst>
          </p:cNvPr>
          <p:cNvSpPr/>
          <p:nvPr/>
        </p:nvSpPr>
        <p:spPr>
          <a:xfrm>
            <a:off x="736600" y="18034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AC6FBF-ABE8-6E65-B2D1-1F875BC4E64C}"/>
              </a:ext>
            </a:extLst>
          </p:cNvPr>
          <p:cNvSpPr txBox="1"/>
          <p:nvPr/>
        </p:nvSpPr>
        <p:spPr>
          <a:xfrm>
            <a:off x="736600" y="18368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91908-61F5-667F-220C-D2BD207263C4}"/>
              </a:ext>
            </a:extLst>
          </p:cNvPr>
          <p:cNvSpPr txBox="1"/>
          <p:nvPr/>
        </p:nvSpPr>
        <p:spPr>
          <a:xfrm>
            <a:off x="1219200" y="18064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Supabase 6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테이블 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 RLS +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인덱스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A1058-215B-B1F1-A78C-0250CEBDDE46}"/>
              </a:ext>
            </a:extLst>
          </p:cNvPr>
          <p:cNvSpPr txBox="1"/>
          <p:nvPr/>
        </p:nvSpPr>
        <p:spPr>
          <a:xfrm>
            <a:off x="6959600" y="18218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수동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INSERT·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·RLS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차단 확인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1AE17E7-9DA6-251D-03C6-1B1E0B1D441C}"/>
              </a:ext>
            </a:extLst>
          </p:cNvPr>
          <p:cNvSpPr/>
          <p:nvPr/>
        </p:nvSpPr>
        <p:spPr>
          <a:xfrm>
            <a:off x="10414000" y="18669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69AAB-43B9-CA04-2269-DDD9DE30EC85}"/>
              </a:ext>
            </a:extLst>
          </p:cNvPr>
          <p:cNvSpPr txBox="1"/>
          <p:nvPr/>
        </p:nvSpPr>
        <p:spPr>
          <a:xfrm>
            <a:off x="10414000" y="19311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41F3FC-0380-60FF-D1A6-914355955CCE}"/>
              </a:ext>
            </a:extLst>
          </p:cNvPr>
          <p:cNvSpPr/>
          <p:nvPr/>
        </p:nvSpPr>
        <p:spPr>
          <a:xfrm>
            <a:off x="609600" y="22479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F57AAC-4933-39DD-02D1-2455796FF8E7}"/>
              </a:ext>
            </a:extLst>
          </p:cNvPr>
          <p:cNvSpPr/>
          <p:nvPr/>
        </p:nvSpPr>
        <p:spPr>
          <a:xfrm>
            <a:off x="736600" y="23241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30F79-E1D0-3430-D7FC-C69EF1148C8F}"/>
              </a:ext>
            </a:extLst>
          </p:cNvPr>
          <p:cNvSpPr txBox="1"/>
          <p:nvPr/>
        </p:nvSpPr>
        <p:spPr>
          <a:xfrm>
            <a:off x="736600" y="23575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CC7973-415A-773C-600C-968989F11E3F}"/>
              </a:ext>
            </a:extLst>
          </p:cNvPr>
          <p:cNvSpPr txBox="1"/>
          <p:nvPr/>
        </p:nvSpPr>
        <p:spPr>
          <a:xfrm>
            <a:off x="1219200" y="23271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본 서비스 적재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회원→주문→보고서→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ai_usage</a:t>
            </a:r>
            <a:endParaRPr lang="ko-KR" altLang="en-US" sz="11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0BE046-BF3F-94AA-3C3B-C46B65F80FED}"/>
              </a:ext>
            </a:extLst>
          </p:cNvPr>
          <p:cNvSpPr txBox="1"/>
          <p:nvPr/>
        </p:nvSpPr>
        <p:spPr>
          <a:xfrm>
            <a:off x="6959600" y="23425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실제 결제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건이 행으로 쌓임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79E5BDB-E9F8-8E57-8863-ED9A90504ABF}"/>
              </a:ext>
            </a:extLst>
          </p:cNvPr>
          <p:cNvSpPr/>
          <p:nvPr/>
        </p:nvSpPr>
        <p:spPr>
          <a:xfrm>
            <a:off x="10414000" y="23876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0F3C22-2DAE-C1BA-A5A7-A2CE3A7C9150}"/>
              </a:ext>
            </a:extLst>
          </p:cNvPr>
          <p:cNvSpPr txBox="1"/>
          <p:nvPr/>
        </p:nvSpPr>
        <p:spPr>
          <a:xfrm>
            <a:off x="10414000" y="24518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1D547E0-B52E-28F5-FC74-4DC7458920F1}"/>
              </a:ext>
            </a:extLst>
          </p:cNvPr>
          <p:cNvSpPr/>
          <p:nvPr/>
        </p:nvSpPr>
        <p:spPr>
          <a:xfrm>
            <a:off x="609600" y="27686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35395DD-17F9-B463-CB05-CEF1037E833A}"/>
              </a:ext>
            </a:extLst>
          </p:cNvPr>
          <p:cNvSpPr/>
          <p:nvPr/>
        </p:nvSpPr>
        <p:spPr>
          <a:xfrm>
            <a:off x="736600" y="28448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4A9A74-BC34-656B-9074-66E421F3E298}"/>
              </a:ext>
            </a:extLst>
          </p:cNvPr>
          <p:cNvSpPr txBox="1"/>
          <p:nvPr/>
        </p:nvSpPr>
        <p:spPr>
          <a:xfrm>
            <a:off x="736600" y="28782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E689CF-A5FA-305F-6CB5-A3861757D821}"/>
              </a:ext>
            </a:extLst>
          </p:cNvPr>
          <p:cNvSpPr txBox="1"/>
          <p:nvPr/>
        </p:nvSpPr>
        <p:spPr>
          <a:xfrm>
            <a:off x="1219200" y="28478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어드민 뼈대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: Next.js + Auth +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사이드바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F79C0-8542-8EF0-F363-42BBA029D71E}"/>
              </a:ext>
            </a:extLst>
          </p:cNvPr>
          <p:cNvSpPr txBox="1"/>
          <p:nvPr/>
        </p:nvSpPr>
        <p:spPr>
          <a:xfrm>
            <a:off x="6959600" y="28632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허용 운영자만 로그인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, 5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메뉴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68342B-AF4F-E312-30D9-459F672348F1}"/>
              </a:ext>
            </a:extLst>
          </p:cNvPr>
          <p:cNvSpPr/>
          <p:nvPr/>
        </p:nvSpPr>
        <p:spPr>
          <a:xfrm>
            <a:off x="10414000" y="29083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809BB3-A0C2-C2A4-6AF8-0EFE0A10113F}"/>
              </a:ext>
            </a:extLst>
          </p:cNvPr>
          <p:cNvSpPr txBox="1"/>
          <p:nvPr/>
        </p:nvSpPr>
        <p:spPr>
          <a:xfrm>
            <a:off x="10414000" y="29725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F0DE0A8-AAD2-4F7F-1C12-25B3B25AEFD0}"/>
              </a:ext>
            </a:extLst>
          </p:cNvPr>
          <p:cNvSpPr/>
          <p:nvPr/>
        </p:nvSpPr>
        <p:spPr>
          <a:xfrm>
            <a:off x="609600" y="32893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9DFB58C-359D-7760-A14F-B2CB70214A89}"/>
              </a:ext>
            </a:extLst>
          </p:cNvPr>
          <p:cNvSpPr/>
          <p:nvPr/>
        </p:nvSpPr>
        <p:spPr>
          <a:xfrm>
            <a:off x="736600" y="33655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6833F-878F-EA5C-DA46-FB9A994A3095}"/>
              </a:ext>
            </a:extLst>
          </p:cNvPr>
          <p:cNvSpPr txBox="1"/>
          <p:nvPr/>
        </p:nvSpPr>
        <p:spPr>
          <a:xfrm>
            <a:off x="736600" y="33989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8AC6CB-EC0B-C14D-BDDD-942E3C2E27AF}"/>
              </a:ext>
            </a:extLst>
          </p:cNvPr>
          <p:cNvSpPr txBox="1"/>
          <p:nvPr/>
        </p:nvSpPr>
        <p:spPr>
          <a:xfrm>
            <a:off x="1219200" y="33685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읽기 화면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통합상세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회원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533581-F448-6273-68D1-58D7015B3DAE}"/>
              </a:ext>
            </a:extLst>
          </p:cNvPr>
          <p:cNvSpPr txBox="1"/>
          <p:nvPr/>
        </p:nvSpPr>
        <p:spPr>
          <a:xfrm>
            <a:off x="6959600" y="33839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데이터가 화면에 정확히 보임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A890BA7-100F-5767-ABC0-5E247B7ABB97}"/>
              </a:ext>
            </a:extLst>
          </p:cNvPr>
          <p:cNvSpPr/>
          <p:nvPr/>
        </p:nvSpPr>
        <p:spPr>
          <a:xfrm>
            <a:off x="10414000" y="34290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F930C-BD95-32E9-D299-868BA0E2A032}"/>
              </a:ext>
            </a:extLst>
          </p:cNvPr>
          <p:cNvSpPr txBox="1"/>
          <p:nvPr/>
        </p:nvSpPr>
        <p:spPr>
          <a:xfrm>
            <a:off x="10414000" y="34932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AC72C66-7D11-CFD3-E9D1-70DA9351FB17}"/>
              </a:ext>
            </a:extLst>
          </p:cNvPr>
          <p:cNvSpPr/>
          <p:nvPr/>
        </p:nvSpPr>
        <p:spPr>
          <a:xfrm>
            <a:off x="609600" y="38100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E844E56-28DC-13EC-4F1D-339C64446B8C}"/>
              </a:ext>
            </a:extLst>
          </p:cNvPr>
          <p:cNvSpPr/>
          <p:nvPr/>
        </p:nvSpPr>
        <p:spPr>
          <a:xfrm>
            <a:off x="736600" y="38862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B44532-B9B3-327A-03A2-953D4482C446}"/>
              </a:ext>
            </a:extLst>
          </p:cNvPr>
          <p:cNvSpPr txBox="1"/>
          <p:nvPr/>
        </p:nvSpPr>
        <p:spPr>
          <a:xfrm>
            <a:off x="736600" y="39196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1B5BA9-BEF2-2E93-D0B9-2A72C6397B4A}"/>
              </a:ext>
            </a:extLst>
          </p:cNvPr>
          <p:cNvSpPr txBox="1"/>
          <p:nvPr/>
        </p:nvSpPr>
        <p:spPr>
          <a:xfrm>
            <a:off x="1219200" y="38892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환불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민감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):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서버함수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토스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멱등성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감사로그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1D9AAB-9E79-9FA9-6AAD-921D51888E6E}"/>
              </a:ext>
            </a:extLst>
          </p:cNvPr>
          <p:cNvSpPr txBox="1"/>
          <p:nvPr/>
        </p:nvSpPr>
        <p:spPr>
          <a:xfrm>
            <a:off x="6959600" y="39046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테스트 환불→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'refunded'+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로그 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0E988C3-5A94-C918-0F90-C8A77022F137}"/>
              </a:ext>
            </a:extLst>
          </p:cNvPr>
          <p:cNvSpPr/>
          <p:nvPr/>
        </p:nvSpPr>
        <p:spPr>
          <a:xfrm>
            <a:off x="10414000" y="39497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C01612-A3E8-1985-09DC-B856C0B9A2BE}"/>
              </a:ext>
            </a:extLst>
          </p:cNvPr>
          <p:cNvSpPr txBox="1"/>
          <p:nvPr/>
        </p:nvSpPr>
        <p:spPr>
          <a:xfrm>
            <a:off x="10414000" y="40139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447E60A-3299-3384-CDC6-33DE5C221E78}"/>
              </a:ext>
            </a:extLst>
          </p:cNvPr>
          <p:cNvSpPr/>
          <p:nvPr/>
        </p:nvSpPr>
        <p:spPr>
          <a:xfrm>
            <a:off x="609600" y="43307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A0948D3-B161-BEDF-1183-CD6C0440DEC2}"/>
              </a:ext>
            </a:extLst>
          </p:cNvPr>
          <p:cNvSpPr/>
          <p:nvPr/>
        </p:nvSpPr>
        <p:spPr>
          <a:xfrm>
            <a:off x="736600" y="44069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1B6112-19AA-6263-4457-3EA6CBC19FE2}"/>
              </a:ext>
            </a:extLst>
          </p:cNvPr>
          <p:cNvSpPr txBox="1"/>
          <p:nvPr/>
        </p:nvSpPr>
        <p:spPr>
          <a:xfrm>
            <a:off x="736600" y="44403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D1B657-94DB-2572-7704-E54D25D40A9A}"/>
              </a:ext>
            </a:extLst>
          </p:cNvPr>
          <p:cNvSpPr txBox="1"/>
          <p:nvPr/>
        </p:nvSpPr>
        <p:spPr>
          <a:xfrm>
            <a:off x="1219200" y="44099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보고서 재발급 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 [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디어네임에서 열기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]</a:t>
            </a:r>
            <a:endParaRPr lang="ko-KR" altLang="en-US" sz="1100" b="1">
              <a:solidFill>
                <a:srgbClr val="1A1A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2CD231-1670-87CD-922C-F2D3C3D74302}"/>
              </a:ext>
            </a:extLst>
          </p:cNvPr>
          <p:cNvSpPr txBox="1"/>
          <p:nvPr/>
        </p:nvSpPr>
        <p:spPr>
          <a:xfrm>
            <a:off x="6959600" y="44253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재발송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버튼 이동 동작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BC6B4F0-15B8-A18D-2CF3-CC2974B4693E}"/>
              </a:ext>
            </a:extLst>
          </p:cNvPr>
          <p:cNvSpPr/>
          <p:nvPr/>
        </p:nvSpPr>
        <p:spPr>
          <a:xfrm>
            <a:off x="10414000" y="44704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67F5CC-985A-9722-C263-94932CC91FA9}"/>
              </a:ext>
            </a:extLst>
          </p:cNvPr>
          <p:cNvSpPr txBox="1"/>
          <p:nvPr/>
        </p:nvSpPr>
        <p:spPr>
          <a:xfrm>
            <a:off x="10414000" y="45346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1DE98E6-027A-87F9-4D6C-41E9E4EFE5EB}"/>
              </a:ext>
            </a:extLst>
          </p:cNvPr>
          <p:cNvSpPr/>
          <p:nvPr/>
        </p:nvSpPr>
        <p:spPr>
          <a:xfrm>
            <a:off x="609600" y="48514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CBFEA14-FDA3-363F-E669-DA2B321E8345}"/>
              </a:ext>
            </a:extLst>
          </p:cNvPr>
          <p:cNvSpPr/>
          <p:nvPr/>
        </p:nvSpPr>
        <p:spPr>
          <a:xfrm>
            <a:off x="736600" y="49276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3409BC-825D-CB6E-0311-D35302052ACA}"/>
              </a:ext>
            </a:extLst>
          </p:cNvPr>
          <p:cNvSpPr txBox="1"/>
          <p:nvPr/>
        </p:nvSpPr>
        <p:spPr>
          <a:xfrm>
            <a:off x="736600" y="49610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7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954643-D143-6888-E37F-B683F5841C2E}"/>
              </a:ext>
            </a:extLst>
          </p:cNvPr>
          <p:cNvSpPr txBox="1"/>
          <p:nvPr/>
        </p:nvSpPr>
        <p:spPr>
          <a:xfrm>
            <a:off x="1219200" y="49306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연 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매출추이 그래프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FBD46-94A1-6806-F0D1-EE278FFA5EF4}"/>
              </a:ext>
            </a:extLst>
          </p:cNvPr>
          <p:cNvSpPr txBox="1"/>
          <p:nvPr/>
        </p:nvSpPr>
        <p:spPr>
          <a:xfrm>
            <a:off x="6959600" y="49460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구간 전환 시 숫자</a:t>
            </a:r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맑은 고딕" panose="020B0503020000020004" pitchFamily="50" charset="-127"/>
              </a:rPr>
              <a:t>그래프 일치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0F5E125-1BFC-EE0D-0C0C-A8C676D2CA3E}"/>
              </a:ext>
            </a:extLst>
          </p:cNvPr>
          <p:cNvSpPr/>
          <p:nvPr/>
        </p:nvSpPr>
        <p:spPr>
          <a:xfrm>
            <a:off x="10414000" y="49911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65646E-4AAA-E653-73CC-D760E8ADE5F4}"/>
              </a:ext>
            </a:extLst>
          </p:cNvPr>
          <p:cNvSpPr txBox="1"/>
          <p:nvPr/>
        </p:nvSpPr>
        <p:spPr>
          <a:xfrm>
            <a:off x="10414000" y="50553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E7C6786-4819-49D5-4614-2623A8C81B31}"/>
              </a:ext>
            </a:extLst>
          </p:cNvPr>
          <p:cNvSpPr/>
          <p:nvPr/>
        </p:nvSpPr>
        <p:spPr>
          <a:xfrm>
            <a:off x="609600" y="53721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0326784-6BA5-9F88-63A3-6628B5916737}"/>
              </a:ext>
            </a:extLst>
          </p:cNvPr>
          <p:cNvSpPr/>
          <p:nvPr/>
        </p:nvSpPr>
        <p:spPr>
          <a:xfrm>
            <a:off x="736600" y="54483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CC95C7-5F39-19E9-EE60-5C38E8BCA0DF}"/>
              </a:ext>
            </a:extLst>
          </p:cNvPr>
          <p:cNvSpPr txBox="1"/>
          <p:nvPr/>
        </p:nvSpPr>
        <p:spPr>
          <a:xfrm>
            <a:off x="736600" y="54817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C481BA-7E51-79BB-417D-D75EDBAF9995}"/>
              </a:ext>
            </a:extLst>
          </p:cNvPr>
          <p:cNvSpPr txBox="1"/>
          <p:nvPr/>
        </p:nvSpPr>
        <p:spPr>
          <a:xfrm>
            <a:off x="1219200" y="54513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전환율 퍼널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·AI 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비용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차트 고도화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9F5F25-383F-50E9-5F6D-291DC443E807}"/>
              </a:ext>
            </a:extLst>
          </p:cNvPr>
          <p:cNvSpPr txBox="1"/>
          <p:nvPr/>
        </p:nvSpPr>
        <p:spPr>
          <a:xfrm>
            <a:off x="6959600" y="54667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—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49675C9-44B6-E1E8-EA58-01B0CB6BE94E}"/>
              </a:ext>
            </a:extLst>
          </p:cNvPr>
          <p:cNvSpPr/>
          <p:nvPr/>
        </p:nvSpPr>
        <p:spPr>
          <a:xfrm>
            <a:off x="10414000" y="5511800"/>
            <a:ext cx="711200" cy="203200"/>
          </a:xfrm>
          <a:prstGeom prst="roundRect">
            <a:avLst>
              <a:gd name="adj" fmla="val 50000"/>
            </a:avLst>
          </a:prstGeom>
          <a:solidFill>
            <a:srgbClr val="DD9B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3296D3-C9E3-D65C-3A8B-D978CE39EDCE}"/>
              </a:ext>
            </a:extLst>
          </p:cNvPr>
          <p:cNvSpPr txBox="1"/>
          <p:nvPr/>
        </p:nvSpPr>
        <p:spPr>
          <a:xfrm>
            <a:off x="10414000" y="5576044"/>
            <a:ext cx="7112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차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B53CB36-1A22-537B-847E-5854EC50DC52}"/>
              </a:ext>
            </a:extLst>
          </p:cNvPr>
          <p:cNvSpPr/>
          <p:nvPr/>
        </p:nvSpPr>
        <p:spPr>
          <a:xfrm>
            <a:off x="609600" y="5892800"/>
            <a:ext cx="10972800" cy="482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5CE7E83-BE2B-C82E-3920-E3AED96BDC06}"/>
              </a:ext>
            </a:extLst>
          </p:cNvPr>
          <p:cNvSpPr/>
          <p:nvPr/>
        </p:nvSpPr>
        <p:spPr>
          <a:xfrm>
            <a:off x="736600" y="5969000"/>
            <a:ext cx="330200" cy="330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05D781-02EC-2C05-BEA6-4D36DBADD59F}"/>
              </a:ext>
            </a:extLst>
          </p:cNvPr>
          <p:cNvSpPr txBox="1"/>
          <p:nvPr/>
        </p:nvSpPr>
        <p:spPr>
          <a:xfrm>
            <a:off x="736600" y="6002466"/>
            <a:ext cx="3302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9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5876CE-267E-76E8-64D9-935E5E8FDDE5}"/>
              </a:ext>
            </a:extLst>
          </p:cNvPr>
          <p:cNvSpPr txBox="1"/>
          <p:nvPr/>
        </p:nvSpPr>
        <p:spPr>
          <a:xfrm>
            <a:off x="1219200" y="5972061"/>
            <a:ext cx="56642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콘텐츠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가격</a:t>
            </a:r>
            <a:r>
              <a:rPr lang="en-US" altLang="ko-KR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1A1A2E"/>
                </a:solidFill>
                <a:latin typeface="맑은 고딕" panose="020B0503020000020004" pitchFamily="50" charset="-127"/>
              </a:rPr>
              <a:t>점검 설정 화면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AF9D6E-1582-E5DD-607A-8E191E122558}"/>
              </a:ext>
            </a:extLst>
          </p:cNvPr>
          <p:cNvSpPr txBox="1"/>
          <p:nvPr/>
        </p:nvSpPr>
        <p:spPr>
          <a:xfrm>
            <a:off x="6959600" y="5987450"/>
            <a:ext cx="33528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맑은 고딕" panose="020B0503020000020004" pitchFamily="50" charset="-127"/>
              </a:rPr>
              <a:t>DoD: —</a:t>
            </a:r>
            <a:endParaRPr lang="ko-KR" altLang="en-US" sz="9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4C04088-7CCF-9705-FCBC-3246BF94C356}"/>
              </a:ext>
            </a:extLst>
          </p:cNvPr>
          <p:cNvSpPr/>
          <p:nvPr/>
        </p:nvSpPr>
        <p:spPr>
          <a:xfrm>
            <a:off x="10337800" y="6032500"/>
            <a:ext cx="787400" cy="203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086CE6-382A-D02F-93E5-A6B4C7B1D465}"/>
              </a:ext>
            </a:extLst>
          </p:cNvPr>
          <p:cNvSpPr txBox="1"/>
          <p:nvPr/>
        </p:nvSpPr>
        <p:spPr>
          <a:xfrm>
            <a:off x="10337800" y="6096744"/>
            <a:ext cx="7874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후순위</a:t>
            </a:r>
          </a:p>
        </p:txBody>
      </p:sp>
    </p:spTree>
    <p:extLst>
      <p:ext uri="{BB962C8B-B14F-4D97-AF65-F5344CB8AC3E}">
        <p14:creationId xmlns:p14="http://schemas.microsoft.com/office/powerpoint/2010/main" val="1228634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314345C-2690-2CFB-D1FB-D30F96A7DFB7}"/>
              </a:ext>
            </a:extLst>
          </p:cNvPr>
          <p:cNvSpPr/>
          <p:nvPr/>
        </p:nvSpPr>
        <p:spPr>
          <a:xfrm>
            <a:off x="8890000" y="-1270000"/>
            <a:ext cx="4572000" cy="4572000"/>
          </a:xfrm>
          <a:prstGeom prst="rect">
            <a:avLst/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BEE12D-D9D4-5510-D868-B23B473BBD9F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B82E1-B5F9-45A9-FC3D-8ADF19A26248}"/>
              </a:ext>
            </a:extLst>
          </p:cNvPr>
          <p:cNvSpPr txBox="1"/>
          <p:nvPr/>
        </p:nvSpPr>
        <p:spPr>
          <a:xfrm>
            <a:off x="889000" y="889000"/>
            <a:ext cx="9652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300" b="1">
                <a:solidFill>
                  <a:srgbClr val="CADCFC"/>
                </a:solidFill>
                <a:latin typeface="맑은 고딕" panose="020B0503020000020004" pitchFamily="50" charset="-127"/>
              </a:rPr>
              <a:t>NEXT STEPS</a:t>
            </a:r>
            <a:endParaRPr lang="ko-KR" altLang="en-US" sz="1300" b="1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88BED-3739-D96D-858C-62EDFB848279}"/>
              </a:ext>
            </a:extLst>
          </p:cNvPr>
          <p:cNvSpPr txBox="1"/>
          <p:nvPr/>
        </p:nvSpPr>
        <p:spPr>
          <a:xfrm>
            <a:off x="863600" y="1244600"/>
            <a:ext cx="10160000" cy="51809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3200" b="1">
                <a:solidFill>
                  <a:srgbClr val="FFFFFF"/>
                </a:solidFill>
                <a:latin typeface="맑은 고딕" panose="020B0503020000020004" pitchFamily="50" charset="-127"/>
              </a:rPr>
              <a:t>다음 단계 </a:t>
            </a:r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FFFFFF"/>
                </a:solidFill>
                <a:latin typeface="맑은 고딕" panose="020B0503020000020004" pitchFamily="50" charset="-127"/>
              </a:rPr>
              <a:t>바로 할 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591CDB-E325-F37E-BE28-8523034B95BA}"/>
              </a:ext>
            </a:extLst>
          </p:cNvPr>
          <p:cNvSpPr/>
          <p:nvPr/>
        </p:nvSpPr>
        <p:spPr>
          <a:xfrm>
            <a:off x="889000" y="2286000"/>
            <a:ext cx="10414000" cy="10922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4269FA3-C6C7-DB4A-3A39-9B214079D7ED}"/>
              </a:ext>
            </a:extLst>
          </p:cNvPr>
          <p:cNvSpPr/>
          <p:nvPr/>
        </p:nvSpPr>
        <p:spPr>
          <a:xfrm>
            <a:off x="1092200" y="2527300"/>
            <a:ext cx="609600" cy="609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810A4-43C5-34B7-F7F9-40D6DE129B3B}"/>
              </a:ext>
            </a:extLst>
          </p:cNvPr>
          <p:cNvSpPr txBox="1"/>
          <p:nvPr/>
        </p:nvSpPr>
        <p:spPr>
          <a:xfrm>
            <a:off x="1092200" y="2496523"/>
            <a:ext cx="6096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F600D-5F0A-EE6D-2F8D-505F54B2D86B}"/>
              </a:ext>
            </a:extLst>
          </p:cNvPr>
          <p:cNvSpPr txBox="1"/>
          <p:nvPr/>
        </p:nvSpPr>
        <p:spPr>
          <a:xfrm>
            <a:off x="1930400" y="2489200"/>
            <a:ext cx="9144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GitHub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빈 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repo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생성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00C39-F022-5CC4-9792-E0E9A79A5560}"/>
              </a:ext>
            </a:extLst>
          </p:cNvPr>
          <p:cNvSpPr txBox="1"/>
          <p:nvPr/>
        </p:nvSpPr>
        <p:spPr>
          <a:xfrm>
            <a:off x="1930400" y="2870200"/>
            <a:ext cx="9144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>
                <a:solidFill>
                  <a:srgbClr val="CADCFC"/>
                </a:solidFill>
                <a:latin typeface="맑은 고딕" panose="020B0503020000020004" pitchFamily="50" charset="-127"/>
              </a:rPr>
              <a:t>어드민용 별도 프로젝트 </a:t>
            </a:r>
            <a:r>
              <a:rPr lang="en-US" altLang="ko-KR" sz="1150">
                <a:solidFill>
                  <a:srgbClr val="CADCFC"/>
                </a:solidFill>
                <a:latin typeface="맑은 고딕" panose="020B0503020000020004" pitchFamily="50" charset="-127"/>
              </a:rPr>
              <a:t>(dearname-admin)</a:t>
            </a:r>
            <a:endParaRPr lang="ko-KR" altLang="en-US" sz="1150">
              <a:solidFill>
                <a:srgbClr val="CADCF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A08C7D-6DE5-2743-CB89-CA8C37D4E9B5}"/>
              </a:ext>
            </a:extLst>
          </p:cNvPr>
          <p:cNvSpPr/>
          <p:nvPr/>
        </p:nvSpPr>
        <p:spPr>
          <a:xfrm>
            <a:off x="889000" y="3556000"/>
            <a:ext cx="10414000" cy="10922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624A29E-D222-C2C9-A204-B912936DF846}"/>
              </a:ext>
            </a:extLst>
          </p:cNvPr>
          <p:cNvSpPr/>
          <p:nvPr/>
        </p:nvSpPr>
        <p:spPr>
          <a:xfrm>
            <a:off x="1092200" y="3797300"/>
            <a:ext cx="609600" cy="609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F145A-9C53-0260-69B6-D4E2FDDF1BA0}"/>
              </a:ext>
            </a:extLst>
          </p:cNvPr>
          <p:cNvSpPr txBox="1"/>
          <p:nvPr/>
        </p:nvSpPr>
        <p:spPr>
          <a:xfrm>
            <a:off x="1092200" y="3766523"/>
            <a:ext cx="6096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7A248-A9C4-918F-BED4-E28FCC3FE1B2}"/>
              </a:ext>
            </a:extLst>
          </p:cNvPr>
          <p:cNvSpPr txBox="1"/>
          <p:nvPr/>
        </p:nvSpPr>
        <p:spPr>
          <a:xfrm>
            <a:off x="1930400" y="3759200"/>
            <a:ext cx="9144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Supabase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프로젝트 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테이블 생성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9FF7EF-7854-57E1-D5E1-CE03779D0CA9}"/>
              </a:ext>
            </a:extLst>
          </p:cNvPr>
          <p:cNvSpPr txBox="1"/>
          <p:nvPr/>
        </p:nvSpPr>
        <p:spPr>
          <a:xfrm>
            <a:off x="1930400" y="4140200"/>
            <a:ext cx="9144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150">
                <a:solidFill>
                  <a:srgbClr val="CADCFC"/>
                </a:solidFill>
                <a:latin typeface="맑은 고딕" panose="020B0503020000020004" pitchFamily="50" charset="-127"/>
              </a:rPr>
              <a:t>이 시점부터 임시 어드민</a:t>
            </a:r>
            <a:r>
              <a:rPr lang="en-US" altLang="ko-KR" sz="1150">
                <a:solidFill>
                  <a:srgbClr val="CADCFC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CADCFC"/>
                </a:solidFill>
                <a:latin typeface="맑은 고딕" panose="020B0503020000020004" pitchFamily="50" charset="-127"/>
              </a:rPr>
              <a:t>테이블 편집기</a:t>
            </a:r>
            <a:r>
              <a:rPr lang="en-US" altLang="ko-KR" sz="1150">
                <a:solidFill>
                  <a:srgbClr val="CADCFC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50">
                <a:solidFill>
                  <a:srgbClr val="CADCFC"/>
                </a:solidFill>
                <a:latin typeface="맑은 고딕" panose="020B0503020000020004" pitchFamily="50" charset="-127"/>
              </a:rPr>
              <a:t>확보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0972DF-7E4B-72C6-5BAD-B7C192727169}"/>
              </a:ext>
            </a:extLst>
          </p:cNvPr>
          <p:cNvSpPr/>
          <p:nvPr/>
        </p:nvSpPr>
        <p:spPr>
          <a:xfrm>
            <a:off x="889000" y="4826000"/>
            <a:ext cx="10414000" cy="109220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46D2E2-CF7F-A1D0-3E23-18759502E3B3}"/>
              </a:ext>
            </a:extLst>
          </p:cNvPr>
          <p:cNvSpPr/>
          <p:nvPr/>
        </p:nvSpPr>
        <p:spPr>
          <a:xfrm>
            <a:off x="1092200" y="5067300"/>
            <a:ext cx="609600" cy="609600"/>
          </a:xfrm>
          <a:prstGeom prst="roundRect">
            <a:avLst>
              <a:gd name="adj" fmla="val 6000"/>
            </a:avLst>
          </a:prstGeom>
          <a:solidFill>
            <a:srgbClr val="3B6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38C94-1104-4BC2-D619-A9F1DA57E75F}"/>
              </a:ext>
            </a:extLst>
          </p:cNvPr>
          <p:cNvSpPr txBox="1"/>
          <p:nvPr/>
        </p:nvSpPr>
        <p:spPr>
          <a:xfrm>
            <a:off x="1092200" y="5036523"/>
            <a:ext cx="609600" cy="36420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6A051-1889-3864-83A1-F8AC22D17705}"/>
              </a:ext>
            </a:extLst>
          </p:cNvPr>
          <p:cNvSpPr txBox="1"/>
          <p:nvPr/>
        </p:nvSpPr>
        <p:spPr>
          <a:xfrm>
            <a:off x="1930400" y="5029200"/>
            <a:ext cx="9144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Phase 0 —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데이터 적재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C34F83-1263-A379-0C83-E062CFC4D724}"/>
              </a:ext>
            </a:extLst>
          </p:cNvPr>
          <p:cNvSpPr txBox="1"/>
          <p:nvPr/>
        </p:nvSpPr>
        <p:spPr>
          <a:xfrm>
            <a:off x="1930400" y="5410200"/>
            <a:ext cx="9144000" cy="20262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ko-KR" sz="1150">
                <a:solidFill>
                  <a:srgbClr val="CADCFC"/>
                </a:solidFill>
                <a:latin typeface="맑은 고딕" panose="020B0503020000020004" pitchFamily="50" charset="-127"/>
              </a:rPr>
              <a:t>server.py </a:t>
            </a:r>
            <a:r>
              <a:rPr lang="ko-KR" altLang="en-US" sz="1150">
                <a:solidFill>
                  <a:srgbClr val="CADCFC"/>
                </a:solidFill>
                <a:latin typeface="맑은 고딕" panose="020B0503020000020004" pitchFamily="50" charset="-127"/>
              </a:rPr>
              <a:t>결제검증 성공 지점에 주문 기록 추가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87CEE4-B1E9-57D2-ABCE-6DDED9FFE6AC}"/>
              </a:ext>
            </a:extLst>
          </p:cNvPr>
          <p:cNvSpPr txBox="1"/>
          <p:nvPr/>
        </p:nvSpPr>
        <p:spPr>
          <a:xfrm>
            <a:off x="889000" y="6375400"/>
            <a:ext cx="10414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ko-KR" altLang="en-US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데이터가 쌓이기 시작하면 → </a:t>
            </a:r>
            <a:r>
              <a:rPr lang="en-US" altLang="ko-KR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Phase 1 </a:t>
            </a:r>
            <a:r>
              <a:rPr lang="ko-KR" altLang="en-US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어드민 </a:t>
            </a:r>
            <a:r>
              <a:rPr lang="en-US" altLang="ko-KR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MVP </a:t>
            </a:r>
            <a:r>
              <a:rPr lang="ko-KR" altLang="en-US" sz="1200" b="1">
                <a:solidFill>
                  <a:srgbClr val="CADCFC"/>
                </a:solidFill>
                <a:latin typeface="맑은 고딕" panose="020B0503020000020004" pitchFamily="50" charset="-127"/>
              </a:rPr>
              <a:t>착수</a:t>
            </a:r>
          </a:p>
        </p:txBody>
      </p:sp>
    </p:spTree>
    <p:extLst>
      <p:ext uri="{BB962C8B-B14F-4D97-AF65-F5344CB8AC3E}">
        <p14:creationId xmlns:p14="http://schemas.microsoft.com/office/powerpoint/2010/main" val="366160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2522</Words>
  <Application>Microsoft Office PowerPoint</Application>
  <PresentationFormat>사용자 지정</PresentationFormat>
  <Paragraphs>531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재우 김</dc:creator>
  <cp:lastModifiedBy>재우 김</cp:lastModifiedBy>
  <cp:revision>1</cp:revision>
  <dcterms:created xsi:type="dcterms:W3CDTF">2026-06-06T03:09:10Z</dcterms:created>
  <dcterms:modified xsi:type="dcterms:W3CDTF">2026-06-06T03:09:10Z</dcterms:modified>
</cp:coreProperties>
</file>